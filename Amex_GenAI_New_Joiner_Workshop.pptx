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5ad680a33845be" /><Relationship Type="http://schemas.openxmlformats.org/officeDocument/2006/relationships/extended-properties" Target="/docProps/app.xml" Id="Rfee668ec49bc4452" /><Relationship Type="http://schemas.openxmlformats.org/officeDocument/2006/relationships/officeDocument" Target="/ppt/presentation.xml" Id="Rc0d3f67c26f947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d0c3d7e86d4b87"/>
  </p:sldMasterIdLst>
  <p:notesMasterIdLst>
    <p:notesMasterId xmlns:r="http://schemas.openxmlformats.org/officeDocument/2006/relationships" r:id="Rb6dedd159d7646d3"/>
  </p:notesMasterIdLst>
  <p:sldIdLst>
    <p:sldId xmlns:r="http://schemas.openxmlformats.org/officeDocument/2006/relationships" id="256" r:id="R7bcacbf40a6c47db"/>
    <p:sldId xmlns:r="http://schemas.openxmlformats.org/officeDocument/2006/relationships" id="257" r:id="R2079a3e633c14f8f"/>
    <p:sldId xmlns:r="http://schemas.openxmlformats.org/officeDocument/2006/relationships" id="258" r:id="R02025e16d50743ad"/>
    <p:sldId xmlns:r="http://schemas.openxmlformats.org/officeDocument/2006/relationships" id="259" r:id="Rd298a361c38148de"/>
    <p:sldId xmlns:r="http://schemas.openxmlformats.org/officeDocument/2006/relationships" id="260" r:id="R0d98001839cc4bc1"/>
    <p:sldId xmlns:r="http://schemas.openxmlformats.org/officeDocument/2006/relationships" id="261" r:id="Rd25386475ed34347"/>
    <p:sldId xmlns:r="http://schemas.openxmlformats.org/officeDocument/2006/relationships" id="262" r:id="R6bc812255c5b4af6"/>
    <p:sldId xmlns:r="http://schemas.openxmlformats.org/officeDocument/2006/relationships" id="263" r:id="R44740d4e35d84a6e"/>
    <p:sldId xmlns:r="http://schemas.openxmlformats.org/officeDocument/2006/relationships" id="264" r:id="R111a36eb89fd4dba"/>
    <p:sldId xmlns:r="http://schemas.openxmlformats.org/officeDocument/2006/relationships" id="265" r:id="Rbf3acd33bfc54f03"/>
    <p:sldId xmlns:r="http://schemas.openxmlformats.org/officeDocument/2006/relationships" id="266" r:id="R45b765077fc2469c"/>
    <p:sldId xmlns:r="http://schemas.openxmlformats.org/officeDocument/2006/relationships" id="267" r:id="R5369dde9a23d447a"/>
    <p:sldId xmlns:r="http://schemas.openxmlformats.org/officeDocument/2006/relationships" id="268" r:id="R983a0028537c42e1"/>
    <p:sldId xmlns:r="http://schemas.openxmlformats.org/officeDocument/2006/relationships" id="269" r:id="R32fb145f42794399"/>
    <p:sldId xmlns:r="http://schemas.openxmlformats.org/officeDocument/2006/relationships" id="270" r:id="Rf4d0f62ef89b4440"/>
    <p:sldId xmlns:r="http://schemas.openxmlformats.org/officeDocument/2006/relationships" id="271" r:id="Ra6ac2f1ac6254142"/>
    <p:sldId xmlns:r="http://schemas.openxmlformats.org/officeDocument/2006/relationships" id="272" r:id="Rd3cbcb67b2734ebe"/>
    <p:sldId xmlns:r="http://schemas.openxmlformats.org/officeDocument/2006/relationships" id="273" r:id="R4c01f3daeaad4820"/>
    <p:sldId xmlns:r="http://schemas.openxmlformats.org/officeDocument/2006/relationships" id="274" r:id="R275bc1923c6942fc"/>
    <p:sldId xmlns:r="http://schemas.openxmlformats.org/officeDocument/2006/relationships" id="275" r:id="Rf2470a2223144606"/>
    <p:sldId xmlns:r="http://schemas.openxmlformats.org/officeDocument/2006/relationships" id="276" r:id="Re6b8f64bf1df4516"/>
    <p:sldId xmlns:r="http://schemas.openxmlformats.org/officeDocument/2006/relationships" id="277" r:id="R2017b49645334a84"/>
    <p:sldId xmlns:r="http://schemas.openxmlformats.org/officeDocument/2006/relationships" id="278" r:id="R51a0cd5687e04502"/>
    <p:sldId xmlns:r="http://schemas.openxmlformats.org/officeDocument/2006/relationships" id="279" r:id="Rc77bc231d4eb4112"/>
    <p:sldId xmlns:r="http://schemas.openxmlformats.org/officeDocument/2006/relationships" id="280" r:id="R3b64cca6dff14298"/>
    <p:sldId xmlns:r="http://schemas.openxmlformats.org/officeDocument/2006/relationships" id="281" r:id="Rea7482ebf4b447c1"/>
    <p:sldId xmlns:r="http://schemas.openxmlformats.org/officeDocument/2006/relationships" id="282" r:id="R074bd81b6b2c47cf"/>
    <p:sldId xmlns:r="http://schemas.openxmlformats.org/officeDocument/2006/relationships" id="283" r:id="R6cf0fb563ee34e72"/>
    <p:sldId xmlns:r="http://schemas.openxmlformats.org/officeDocument/2006/relationships" id="284" r:id="Rfe8df8365824407b"/>
    <p:sldId xmlns:r="http://schemas.openxmlformats.org/officeDocument/2006/relationships" id="285" r:id="Rb5204f849c1146b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fd5c168ca14773" /><Relationship Type="http://schemas.openxmlformats.org/officeDocument/2006/relationships/slideMaster" Target="/ppt/slideMasters/slideMaster1.xml" Id="Rf7d0c3d7e86d4b87" /><Relationship Type="http://schemas.openxmlformats.org/officeDocument/2006/relationships/notesMaster" Target="/ppt/notesMasters/notesMaster1.xml" Id="Rb6dedd159d7646d3" /><Relationship Type="http://schemas.openxmlformats.org/officeDocument/2006/relationships/presProps" Target="/ppt/presProps.xml" Id="R13182ee6032240cf" /><Relationship Type="http://schemas.openxmlformats.org/officeDocument/2006/relationships/tableStyles" Target="/ppt/tableStyles.xml" Id="Raa665921252f46d5" /><Relationship Type="http://schemas.openxmlformats.org/officeDocument/2006/relationships/slide" Target="/ppt/slides/slide1.xml" Id="R7bcacbf40a6c47db" /><Relationship Type="http://schemas.openxmlformats.org/officeDocument/2006/relationships/slide" Target="/ppt/slides/slide2.xml" Id="R2079a3e633c14f8f" /><Relationship Type="http://schemas.openxmlformats.org/officeDocument/2006/relationships/slide" Target="/ppt/slides/slide3.xml" Id="R02025e16d50743ad" /><Relationship Type="http://schemas.openxmlformats.org/officeDocument/2006/relationships/slide" Target="/ppt/slides/slide4.xml" Id="Rd298a361c38148de" /><Relationship Type="http://schemas.openxmlformats.org/officeDocument/2006/relationships/slide" Target="/ppt/slides/slide5.xml" Id="R0d98001839cc4bc1" /><Relationship Type="http://schemas.openxmlformats.org/officeDocument/2006/relationships/slide" Target="/ppt/slides/slide6.xml" Id="Rd25386475ed34347" /><Relationship Type="http://schemas.openxmlformats.org/officeDocument/2006/relationships/slide" Target="/ppt/slides/slide7.xml" Id="R6bc812255c5b4af6" /><Relationship Type="http://schemas.openxmlformats.org/officeDocument/2006/relationships/slide" Target="/ppt/slides/slide8.xml" Id="R44740d4e35d84a6e" /><Relationship Type="http://schemas.openxmlformats.org/officeDocument/2006/relationships/slide" Target="/ppt/slides/slide9.xml" Id="R111a36eb89fd4dba" /><Relationship Type="http://schemas.openxmlformats.org/officeDocument/2006/relationships/slide" Target="/ppt/slides/slide10.xml" Id="Rbf3acd33bfc54f03" /><Relationship Type="http://schemas.openxmlformats.org/officeDocument/2006/relationships/slide" Target="/ppt/slides/slide11.xml" Id="R45b765077fc2469c" /><Relationship Type="http://schemas.openxmlformats.org/officeDocument/2006/relationships/slide" Target="/ppt/slides/slide12.xml" Id="R5369dde9a23d447a" /><Relationship Type="http://schemas.openxmlformats.org/officeDocument/2006/relationships/slide" Target="/ppt/slides/slide13.xml" Id="R983a0028537c42e1" /><Relationship Type="http://schemas.openxmlformats.org/officeDocument/2006/relationships/slide" Target="/ppt/slides/slide14.xml" Id="R32fb145f42794399" /><Relationship Type="http://schemas.openxmlformats.org/officeDocument/2006/relationships/slide" Target="/ppt/slides/slide15.xml" Id="Rf4d0f62ef89b4440" /><Relationship Type="http://schemas.openxmlformats.org/officeDocument/2006/relationships/slide" Target="/ppt/slides/slide16.xml" Id="Ra6ac2f1ac6254142" /><Relationship Type="http://schemas.openxmlformats.org/officeDocument/2006/relationships/slide" Target="/ppt/slides/slide17.xml" Id="Rd3cbcb67b2734ebe" /><Relationship Type="http://schemas.openxmlformats.org/officeDocument/2006/relationships/slide" Target="/ppt/slides/slide18.xml" Id="R4c01f3daeaad4820" /><Relationship Type="http://schemas.openxmlformats.org/officeDocument/2006/relationships/slide" Target="/ppt/slides/slide19.xml" Id="R275bc1923c6942fc" /><Relationship Type="http://schemas.openxmlformats.org/officeDocument/2006/relationships/slide" Target="/ppt/slides/slide20.xml" Id="Rf2470a2223144606" /><Relationship Type="http://schemas.openxmlformats.org/officeDocument/2006/relationships/slide" Target="/ppt/slides/slide21.xml" Id="Re6b8f64bf1df4516" /><Relationship Type="http://schemas.openxmlformats.org/officeDocument/2006/relationships/slide" Target="/ppt/slides/slide22.xml" Id="R2017b49645334a84" /><Relationship Type="http://schemas.openxmlformats.org/officeDocument/2006/relationships/slide" Target="/ppt/slides/slide23.xml" Id="R51a0cd5687e04502" /><Relationship Type="http://schemas.openxmlformats.org/officeDocument/2006/relationships/slide" Target="/ppt/slides/slide24.xml" Id="Rc77bc231d4eb4112" /><Relationship Type="http://schemas.openxmlformats.org/officeDocument/2006/relationships/slide" Target="/ppt/slides/slide25.xml" Id="R3b64cca6dff14298" /><Relationship Type="http://schemas.openxmlformats.org/officeDocument/2006/relationships/slide" Target="/ppt/slides/slide26.xml" Id="Rea7482ebf4b447c1" /><Relationship Type="http://schemas.openxmlformats.org/officeDocument/2006/relationships/slide" Target="/ppt/slides/slide27.xml" Id="R074bd81b6b2c47cf" /><Relationship Type="http://schemas.openxmlformats.org/officeDocument/2006/relationships/slide" Target="/ppt/slides/slide28.xml" Id="R6cf0fb563ee34e72" /><Relationship Type="http://schemas.openxmlformats.org/officeDocument/2006/relationships/slide" Target="/ppt/slides/slide29.xml" Id="Rfe8df8365824407b" /><Relationship Type="http://schemas.openxmlformats.org/officeDocument/2006/relationships/slide" Target="/ppt/slides/slide30.xml" Id="Rb5204f849c1146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310d3046014d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3b2a29134a4cf6" /><Relationship Type="http://schemas.openxmlformats.org/officeDocument/2006/relationships/notesMaster" Target="/ppt/notesMasters/notesMaster1.xml" Id="Raca930b977fd49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eae82ca3f114f68" /><Relationship Type="http://schemas.openxmlformats.org/officeDocument/2006/relationships/notesMaster" Target="/ppt/notesMasters/notesMaster1.xml" Id="Rc17cf097c34d4f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fdd91e60724b7c" /><Relationship Type="http://schemas.openxmlformats.org/officeDocument/2006/relationships/notesMaster" Target="/ppt/notesMasters/notesMaster1.xml" Id="Re8c6c8f901bd49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2c6aaa6acf04f54" /><Relationship Type="http://schemas.openxmlformats.org/officeDocument/2006/relationships/notesMaster" Target="/ppt/notesMasters/notesMaster1.xml" Id="Re40517d2196244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0e245d5f6f64a55" /><Relationship Type="http://schemas.openxmlformats.org/officeDocument/2006/relationships/notesMaster" Target="/ppt/notesMasters/notesMaster1.xml" Id="Re342b8da42ce44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16f1a167a44710" /><Relationship Type="http://schemas.openxmlformats.org/officeDocument/2006/relationships/notesMaster" Target="/ppt/notesMasters/notesMaster1.xml" Id="R3dc4fdd5e797402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35685676df4f9d" /><Relationship Type="http://schemas.openxmlformats.org/officeDocument/2006/relationships/notesMaster" Target="/ppt/notesMasters/notesMaster1.xml" Id="R4389159bc39643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bb04d94368a4ff8" /><Relationship Type="http://schemas.openxmlformats.org/officeDocument/2006/relationships/notesMaster" Target="/ppt/notesMasters/notesMaster1.xml" Id="Rcc71767e8fdd49a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c7e95b30ba4a92" /><Relationship Type="http://schemas.openxmlformats.org/officeDocument/2006/relationships/notesMaster" Target="/ppt/notesMasters/notesMaster1.xml" Id="Re3177d9ccb61449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98a268c4f94d57" /><Relationship Type="http://schemas.openxmlformats.org/officeDocument/2006/relationships/notesMaster" Target="/ppt/notesMasters/notesMaster1.xml" Id="R4d05c267db4b459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4db8ea78526424f" /><Relationship Type="http://schemas.openxmlformats.org/officeDocument/2006/relationships/notesMaster" Target="/ppt/notesMasters/notesMaster1.xml" Id="Re04ead05e414448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fe662bbbd7462a" /><Relationship Type="http://schemas.openxmlformats.org/officeDocument/2006/relationships/notesMaster" Target="/ppt/notesMasters/notesMaster1.xml" Id="Re72275c7689d464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5b41823e1543a3" /><Relationship Type="http://schemas.openxmlformats.org/officeDocument/2006/relationships/notesMaster" Target="/ppt/notesMasters/notesMaster1.xml" Id="R02d2000b635b492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c14b455960f4300" /><Relationship Type="http://schemas.openxmlformats.org/officeDocument/2006/relationships/notesMaster" Target="/ppt/notesMasters/notesMaster1.xml" Id="R388d73532a8d43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e39147592d54580" /><Relationship Type="http://schemas.openxmlformats.org/officeDocument/2006/relationships/notesMaster" Target="/ppt/notesMasters/notesMaster1.xml" Id="R341584a7ca094ce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4ba7ad2de447e0" /><Relationship Type="http://schemas.openxmlformats.org/officeDocument/2006/relationships/notesMaster" Target="/ppt/notesMasters/notesMaster1.xml" Id="Re2509f443d5e433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5dccf76f054653" /><Relationship Type="http://schemas.openxmlformats.org/officeDocument/2006/relationships/notesMaster" Target="/ppt/notesMasters/notesMaster1.xml" Id="R5f77d650731d4a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e9e3a09c7ca42d9" /><Relationship Type="http://schemas.openxmlformats.org/officeDocument/2006/relationships/notesMaster" Target="/ppt/notesMasters/notesMaster1.xml" Id="Ra2fe4f6badd4462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935fa7985e84364" /><Relationship Type="http://schemas.openxmlformats.org/officeDocument/2006/relationships/notesMaster" Target="/ppt/notesMasters/notesMaster1.xml" Id="R9c5b986195e74eb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c444e6f7acb4efe" /><Relationship Type="http://schemas.openxmlformats.org/officeDocument/2006/relationships/notesMaster" Target="/ppt/notesMasters/notesMaster1.xml" Id="Rd171169c4c3b452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85cd352744e40c4" /><Relationship Type="http://schemas.openxmlformats.org/officeDocument/2006/relationships/notesMaster" Target="/ppt/notesMasters/notesMaster1.xml" Id="Rdadbad10482f4c4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ae22013bf24573" /><Relationship Type="http://schemas.openxmlformats.org/officeDocument/2006/relationships/notesMaster" Target="/ppt/notesMasters/notesMaster1.xml" Id="Rf3a2b7bc8ec644b3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0bd5f7b1a8e4821" /><Relationship Type="http://schemas.openxmlformats.org/officeDocument/2006/relationships/notesMaster" Target="/ppt/notesMasters/notesMaster1.xml" Id="R6ec029d4a12647d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deee24dd60a4c92" /><Relationship Type="http://schemas.openxmlformats.org/officeDocument/2006/relationships/notesMaster" Target="/ppt/notesMasters/notesMaster1.xml" Id="R64a610b838604cc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3f63b3282854332" /><Relationship Type="http://schemas.openxmlformats.org/officeDocument/2006/relationships/notesMaster" Target="/ppt/notesMasters/notesMaster1.xml" Id="Rfcd08ec88353437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b066bd5717c0436e" /><Relationship Type="http://schemas.openxmlformats.org/officeDocument/2006/relationships/notesMaster" Target="/ppt/notesMasters/notesMaster1.xml" Id="R01cc9294145d413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348b62a2cca4a2c" /><Relationship Type="http://schemas.openxmlformats.org/officeDocument/2006/relationships/notesMaster" Target="/ppt/notesMasters/notesMaster1.xml" Id="R047b9e47e0b1403c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50fba85518cc4449" /><Relationship Type="http://schemas.openxmlformats.org/officeDocument/2006/relationships/notesMaster" Target="/ppt/notesMasters/notesMaster1.xml" Id="R1c30b28d1fa84b4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e61a223341744c7" /><Relationship Type="http://schemas.openxmlformats.org/officeDocument/2006/relationships/notesMaster" Target="/ppt/notesMasters/notesMaster1.xml" Id="Ra85f176af5ca493b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76c8e6369524655" /><Relationship Type="http://schemas.openxmlformats.org/officeDocument/2006/relationships/notesMaster" Target="/ppt/notesMasters/notesMaster1.xml" Id="R50ef6423f9614f5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Welcome participants. Frame today as a practical workshop, not a technical lecture.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Do I need technical experience?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Start by making GenAI intuitive.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brief; reference images for visual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Set expectations: AI can help with a wide range of work, but responsibility remains with 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Will AI replace my role?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Define what makes this technology different.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Use the visual: a request goes in, a newly composed response comes 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Is it just copying from the internet?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Compare it with traditional software.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This difference explains both the opportunity and the need for clear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Which is more reliable?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simple LLM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Keep the explanation intuitive. Avoid model architecture or training mechanics.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Does it understand meaning?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limits of what it can see and verify.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Explain that a fluent answer is not proof of a correct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Can a longer conversation solve everything?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Show practical use cases before moving to prompting.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Use examples participants recognise, without turning the slide into a product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What tools are available here?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Now show why the prompt changes the result.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Invite a quick vote before revealing the discussion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What if groups disagree?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next slide to show the principle.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Activity design based on 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State the core idea before introducing the framework.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Should I write a very long prompt?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Reveal RTCF as a quick planning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Exercise 1 Prompting Context Pack.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Introduce RTCF as a checklist, not a rigid template.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Must every prompt include all four?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Apply it to one simple problem throughout.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Exercise 1 Prompting Context Pack.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Use the fictional training scenario. Ask the room to name the assumptions.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What is wrong with the prompt?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Add the role and task first.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Exercise 1 Prompting Context Pack.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Role is a lens; task is the work product. Neither replaces factual context.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Is role prompting pretending the AI is an expert?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Add the facts and audience next.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Exercise 1 Prompting Context Pack.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Show that relevant context reduces made-up details and makes tone choices more appropriate.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Do I paste every fact I know?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Finish with output format and guardrails.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Exercise 1 Prompting Context Pack.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Call out that constraints protect accuracy and brand tone.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What output would this generate?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Let participants practice on the real exercise pack.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Exercise 1 Prompting Context Pack.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Invite a quick vote before revealing the discussion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What if groups disagree?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next slide to show the principle.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Activity design based on 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Explain zero-shot as no example, one-shot as one example, few-shot as multiple examples.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Can examples bias the answer?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Show additional control techniques.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These are controls that remove ambiguity. Demonstrate one with a short verbal example.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Do I need all four?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a prediction activity to reinforce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Invite a quick vote before revealing the discussion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What if groups disagree?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next slide to show the principle.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Activity design based on 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Decomposition gives you checkpoints and makes it easier to verify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Should I ask for chain-of-thought?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Close prompting with an iteration habit.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Encourage participants to be specific in feedback: too long, wrong audience, missing source, unclear structure.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How many iterations are normal?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Connect a repeated prompt to a reusable assistant.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Make the pivot: use a Custom GPT when a recurring question needs consistent assistance.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Does every good prompt need to become a GPT?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Show when the investment is worthwhile.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Exercise 2 Custom GPT Context Pack.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Custom GPTs are not a substitute for ownership or a way around policy.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What is the simplest first GPT?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Introduce the Four D thinking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Frame this as thinking before configuring. The goal is not merely to make a chatbot.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Where do guardrails fit?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T&amp;E scenario to show each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Set up the live demo. State that the policy is fictional training content.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What knowledge will it use?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Reveal the build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Exercise 2 Custom GPT Context Pack.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Tie each design choice to a failure it prevents.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Why not just upload a document?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Show the actual starter instructions.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Exercise 2 Custom GPT Context Pack.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Build this live, then upload the provided context pack as knowledge.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Why state the exact deferral phrase?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Test it against known and unknown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Exercise 2 Custom GPT Context Pack.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Invite a quick vote before revealing the discussion point.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What if groups disagree?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Use the next slide to show the principle.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Activity design based on 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End on everyday actions, not policy language.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Can AI cite sources incorrectly?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Bring the learning together in a simple checklist.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Use this as the recap and leave it on screen while taking final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What is one action I can try today?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Finish with a practical commitment.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Exercise 1 and Exercise 2 Context Packs; 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Say: Close by inviting each person to choose a safe, low-stakes task to try this week.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Common question: Where can I find support?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Thank participants and share any local follow-up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Supplied session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9319315b84b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0ee44719ed4031" /><Relationship Type="http://schemas.openxmlformats.org/officeDocument/2006/relationships/slideLayout" Target="/ppt/slideLayouts/slideLayout1.xml" Id="R52e3c9a0a94a47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e3c9a0a94a47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4934ea94145c3" /><Relationship Type="http://schemas.openxmlformats.org/officeDocument/2006/relationships/notesSlide" Target="/ppt/notesSlides/notesSlide1.xml" Id="R1f4fb3895b0945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2086c28fd3468a" /><Relationship Type="http://schemas.openxmlformats.org/officeDocument/2006/relationships/notesSlide" Target="/ppt/notesSlides/notesSlide2.xml" Id="Re677edab8e3a4a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0e59dfc574075" /><Relationship Type="http://schemas.openxmlformats.org/officeDocument/2006/relationships/notesSlide" Target="/ppt/notesSlides/notesSlide3.xml" Id="R3eaa842a00134c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da2d60e94f45b1" /><Relationship Type="http://schemas.openxmlformats.org/officeDocument/2006/relationships/notesSlide" Target="/ppt/notesSlides/notesSlide4.xml" Id="Rda3cc0337b374a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c921866634cad" /><Relationship Type="http://schemas.openxmlformats.org/officeDocument/2006/relationships/notesSlide" Target="/ppt/notesSlides/notesSlide5.xml" Id="Raa51706f343b4b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6e70f154df4d10" /><Relationship Type="http://schemas.openxmlformats.org/officeDocument/2006/relationships/notesSlide" Target="/ppt/notesSlides/notesSlide6.xml" Id="R736b6128aa114c0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ba2d2f63b4402" /><Relationship Type="http://schemas.openxmlformats.org/officeDocument/2006/relationships/notesSlide" Target="/ppt/notesSlides/notesSlide7.xml" Id="Re560899196ed483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45b89159b24227" /><Relationship Type="http://schemas.openxmlformats.org/officeDocument/2006/relationships/notesSlide" Target="/ppt/notesSlides/notesSlide8.xml" Id="R2e0f2b313b2b46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162f5642b143c6" /><Relationship Type="http://schemas.openxmlformats.org/officeDocument/2006/relationships/notesSlide" Target="/ppt/notesSlides/notesSlide9.xml" Id="Rfd9856bae330401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9e92714544da2" /><Relationship Type="http://schemas.openxmlformats.org/officeDocument/2006/relationships/notesSlide" Target="/ppt/notesSlides/notesSlide10.xml" Id="Rf1efa0f7f1474b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18006d69d4ef0" /><Relationship Type="http://schemas.openxmlformats.org/officeDocument/2006/relationships/notesSlide" Target="/ppt/notesSlides/notesSlide11.xml" Id="Rec791a497f4047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4f05ff2c2f45cc" /><Relationship Type="http://schemas.openxmlformats.org/officeDocument/2006/relationships/notesSlide" Target="/ppt/notesSlides/notesSlide12.xml" Id="Rfe54c6269e624b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adbba93bb4471f" /><Relationship Type="http://schemas.openxmlformats.org/officeDocument/2006/relationships/notesSlide" Target="/ppt/notesSlides/notesSlide13.xml" Id="R12a95063022e4cb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48f03b3f2456d" /><Relationship Type="http://schemas.openxmlformats.org/officeDocument/2006/relationships/notesSlide" Target="/ppt/notesSlides/notesSlide14.xml" Id="R2ef74c9d99ea429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ffb7d4eabc4ef2" /><Relationship Type="http://schemas.openxmlformats.org/officeDocument/2006/relationships/notesSlide" Target="/ppt/notesSlides/notesSlide15.xml" Id="R83b01ec0f5ad474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4ce9c825574fa0" /><Relationship Type="http://schemas.openxmlformats.org/officeDocument/2006/relationships/notesSlide" Target="/ppt/notesSlides/notesSlide16.xml" Id="Rd05d809f258245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2d458bfa5842f1" /><Relationship Type="http://schemas.openxmlformats.org/officeDocument/2006/relationships/notesSlide" Target="/ppt/notesSlides/notesSlide17.xml" Id="R79714f630fa64ae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36f22c5f10402a" /><Relationship Type="http://schemas.openxmlformats.org/officeDocument/2006/relationships/notesSlide" Target="/ppt/notesSlides/notesSlide18.xml" Id="R65de0d3961d3472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8e29b25b314ab4" /><Relationship Type="http://schemas.openxmlformats.org/officeDocument/2006/relationships/notesSlide" Target="/ppt/notesSlides/notesSlide19.xml" Id="Rff6e72a7d42b4de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76c34299544f82" /><Relationship Type="http://schemas.openxmlformats.org/officeDocument/2006/relationships/notesSlide" Target="/ppt/notesSlides/notesSlide20.xml" Id="R177e54ca242944e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c2da601ea4e8b" /><Relationship Type="http://schemas.openxmlformats.org/officeDocument/2006/relationships/notesSlide" Target="/ppt/notesSlides/notesSlide21.xml" Id="R0f24e433092a4c6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d586e847d84807" /><Relationship Type="http://schemas.openxmlformats.org/officeDocument/2006/relationships/notesSlide" Target="/ppt/notesSlides/notesSlide22.xml" Id="R84062142ee7b45c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e0bce19d3d4d5a" /><Relationship Type="http://schemas.openxmlformats.org/officeDocument/2006/relationships/notesSlide" Target="/ppt/notesSlides/notesSlide23.xml" Id="Reec56dab17a8462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28a62132124895" /><Relationship Type="http://schemas.openxmlformats.org/officeDocument/2006/relationships/notesSlide" Target="/ppt/notesSlides/notesSlide24.xml" Id="R21254a5ca91f454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fcb1b636e4d01" /><Relationship Type="http://schemas.openxmlformats.org/officeDocument/2006/relationships/notesSlide" Target="/ppt/notesSlides/notesSlide25.xml" Id="R19c476c007ae45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81622345f445a6" /><Relationship Type="http://schemas.openxmlformats.org/officeDocument/2006/relationships/notesSlide" Target="/ppt/notesSlides/notesSlide26.xml" Id="R89b866c8ef3f448d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4b90d594d3456b" /><Relationship Type="http://schemas.openxmlformats.org/officeDocument/2006/relationships/notesSlide" Target="/ppt/notesSlides/notesSlide27.xml" Id="R29853fb46a6241d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34001428d4cc8" /><Relationship Type="http://schemas.openxmlformats.org/officeDocument/2006/relationships/notesSlide" Target="/ppt/notesSlides/notesSlide28.xml" Id="R9879f0529517440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97fdcbc4c4aef" /><Relationship Type="http://schemas.openxmlformats.org/officeDocument/2006/relationships/notesSlide" Target="/ppt/notesSlides/notesSlide29.xml" Id="R7adf5bd2d4074f2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1f3d2f77841ce" /><Relationship Type="http://schemas.openxmlformats.org/officeDocument/2006/relationships/notesSlide" Target="/ppt/notesSlides/notesSlide30.xml" Id="Rfe013469c22440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85C563-33BA-4E90-8EF2-66608850D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WELCOME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EC467-E9DA-48E2-B242-8958D02E9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84CFC-B3D2-40DE-AAE1-D10D6964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8C6A5D-B10D-4CD5-A495-DAC0FACAA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98BAC-8CB4-46F0-AAA5-4418BD3C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00A278-BE6F-47B2-813A-A4B07C61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09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E4C6DE-DEA6-4C60-9F83-8C1C50F3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 i="0">
                <a:solidFill>
                  <a:srgbClr val="18202A"/>
                </a:solidFill>
              </a:defRPr>
            </a:pPr>
            <a:r>
              <a:rPr sz="3900" b="1" i="0">
                <a:solidFill>
                  <a:srgbClr val="18202A"/>
                </a:solidFill>
              </a:rPr>
              <a:t>GenAI: make it useful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35483-F5D0-4885-8774-45EE4550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28900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B6675"/>
                </a:solidFill>
              </a:defRPr>
            </a:pPr>
            <a:r>
              <a:rPr sz="1800" b="0" i="0">
                <a:solidFill>
                  <a:srgbClr val="5B6675"/>
                </a:solidFill>
              </a:rPr>
              <a:t>A hands-on session for American Express new joiners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D8B10-C0BC-43DC-BB03-05193BFE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67100"/>
            <a:ext cx="581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2E55D4"/>
                </a:solidFill>
              </a:defRPr>
            </a:pPr>
            <a:r>
              <a:rPr sz="1425" b="1" i="0">
                <a:solidFill>
                  <a:srgbClr val="2E55D4"/>
                </a:solidFill>
              </a:rPr>
              <a:t>Explore • prompt • build • verify</a:t>
            </a:r>
          </a:p>
        </p:txBody>
      </p:sp>
    </p:spTree>
    <p:extLst>
      <p:ext uri="{BB962C8B-B14F-4D97-AF65-F5344CB8AC3E}">
        <p14:creationId xmlns:p14="http://schemas.microsoft.com/office/powerpoint/2010/main" val="18759171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A9C1BF-2DE7-463F-BCED-367C9CF41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C64BF-D452-4617-A8CD-AEEE9B41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375FD-1F41-4FFA-9899-BCF92C3E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77C31-0286-4E58-8F57-C64E54322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1E898-A95F-42DC-998E-4489027B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F38A6-71BA-49B8-9781-289E157D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6D167D-851F-4611-BF2F-5DEA1C1F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WHY THIS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C7DA1-C347-4EAA-B2B0-52C7EC21B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C851AE-CE98-4628-90DC-30A762380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AI is becoming a work habit - not a specialist tool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4A7B71-02E4-4DE1-AC8C-77BAAE26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34099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823BC1-6EEE-4556-8566-6C5226D1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701C09-F2C2-478B-9531-8B681147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CREATE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81FD99-CE88-4A24-98BF-C8207293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Draft faster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865922-9907-4A65-890C-DE1A54DD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306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Emails, briefs, presentations and first-pass ideas.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2903D-681E-4A09-A892-85EEEA500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4099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1B8EC5-F430-4500-8F50-ADA445608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5050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D58578-82A2-449A-942D-098A29CEE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5622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ANALYSE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D08326-EF5D-4701-BF1B-A4F97507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981325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Explore faster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A6F5B1-EE40-418F-A358-A97C80220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14750"/>
            <a:ext cx="306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Summaries, patterns, questions and structured options.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5F697-4E79-4500-8CF8-CBB5D685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33625"/>
            <a:ext cx="34099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C8E4D7-A1BC-4C97-9D0F-78711D8B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050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07129F-674F-4800-9293-4B2D5AB1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622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DECIDE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441E7-FDCE-4E32-B9C8-76185C57F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981325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Check better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7AE28D-B1C9-4753-A5D8-AF4AD6D60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14750"/>
            <a:ext cx="3067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Use it to surface assumptions - then apply judgement.</a:t>
            </a:r>
          </a:p>
        </p:txBody>
      </p:sp>
    </p:spTree>
    <p:extLst>
      <p:ext uri="{BB962C8B-B14F-4D97-AF65-F5344CB8AC3E}">
        <p14:creationId xmlns:p14="http://schemas.microsoft.com/office/powerpoint/2010/main" val="13240794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087C31-C5B6-4E8E-9541-D0FD61075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34A8E3-5561-45F3-8DA7-72CF1313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0410AB-86C8-411F-B548-4FE17E459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539A8-DE0B-41B4-AFA3-E648BF5F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AAC126-6709-43AB-B864-C3870484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02ED2-0ED3-43A6-A956-172E0A7A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478BB-5FBD-40B6-A1B8-54FE29D2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952325-EE98-4051-8F4E-8CF8F6F3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3F4F38-E8F2-4B1A-A4A1-4DB3A326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Generative AI creates a new response each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D9233F-D57A-428F-9ABD-F3FD97AD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5"/>
                </a:solidFill>
              </a:defRPr>
            </a:pPr>
            <a:r>
              <a:rPr sz="1350" b="0" i="0">
                <a:solidFill>
                  <a:srgbClr val="5B6675"/>
                </a:solidFill>
              </a:rPr>
              <a:t>It predicts useful next pieces of content from patterns it has learned.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24AE2-877D-4C5F-8FC4-15A06A3C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2887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8B5DDD-E026-4FD3-8935-31B8B28B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123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8202A"/>
                </a:solidFill>
              </a:defRPr>
            </a:pPr>
            <a:r>
              <a:rPr sz="1650" b="1" i="0">
                <a:solidFill>
                  <a:srgbClr val="18202A"/>
                </a:solidFill>
              </a:rPr>
              <a:t>Your</a:t>
            </a:r>
          </a:p>
          <a:p xmlns:a="http://schemas.openxmlformats.org/drawingml/2006/main">
            <a:pPr algn="ctr">
              <a:defRPr sz="1650" b="1" i="0">
                <a:solidFill>
                  <a:srgbClr val="18202A"/>
                </a:solidFill>
              </a:defRPr>
            </a:pPr>
            <a:r>
              <a:rPr sz="1650" b="1" i="0">
                <a:solidFill>
                  <a:srgbClr val="18202A"/>
                </a:solidFill>
              </a:rPr>
              <a:t>request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D308A5-F222-49AD-94E3-9FA9C448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714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E55D4"/>
                </a:solidFill>
              </a:defRPr>
            </a:pPr>
            <a:r>
              <a:rPr sz="2850" b="1" i="0">
                <a:solidFill>
                  <a:srgbClr val="2E55D4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35D344-92C9-4AF6-96CA-1F92B0E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ACE635-7EC7-4ACC-8546-254B730A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A new</a:t>
            </a:r>
          </a:p>
          <a:p xmlns:a="http://schemas.openxmlformats.org/drawingml/2006/main">
            <a:pPr algn="ctr"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E36738-426A-4BE1-BC6A-F8DC026F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3340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6B4D"/>
                </a:solidFill>
              </a:defRPr>
            </a:pPr>
            <a:r>
              <a:rPr sz="1350" b="1" i="0">
                <a:solidFill>
                  <a:srgbClr val="F26B4D"/>
                </a:solidFill>
              </a:rPr>
              <a:t>It is not a search box with a personality.</a:t>
            </a:r>
          </a:p>
        </p:txBody>
      </p:sp>
    </p:spTree>
    <p:extLst>
      <p:ext uri="{BB962C8B-B14F-4D97-AF65-F5344CB8AC3E}">
        <p14:creationId xmlns:p14="http://schemas.microsoft.com/office/powerpoint/2010/main" val="16747477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0AA8E3-6710-4BB7-8F79-8152A1F9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23870-07AE-4B45-8182-17086613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14748-C7A0-4D88-BF7B-D49958CE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01A5A-7208-4224-AFC7-F0EAE2C7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A0A90-4074-4D79-BD8E-6BF37CB4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2FECF1-AAA8-4682-87AD-BEC20217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6322BD-E50F-41FE-B9B3-089F8DC8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38166-CD84-4E16-B99A-3FBD531C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84703F-BC85-41D6-827D-96E45D5E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Traditional software follows rules. GenAI works with patterns.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48C23-7250-4A61-9FF3-84374879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5248275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C4988-F433-4ABC-9EB0-538EC0D14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050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E5E60-A328-4288-AC3B-CFA87F691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622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TRADITIONAL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F365E-DD33-4870-8B1B-21F15EAE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8132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Same input → same 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66BD80-CA59-4929-895D-DC88F8BE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4905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A formula, workflow or rule triggers a predictable result.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622D7A-7E80-47DE-B220-464B15FB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333625"/>
            <a:ext cx="5248275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6ECE7B-1ED7-4B41-A666-FD2F81EF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5050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ECCAF-B89E-40DE-A2D3-24CEF440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622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GENERATIVE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4B51F-B8D4-4A5B-91E3-DF77C60D8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81325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Same input → varied output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1AE2EE-1F6E-4A98-877E-3010C037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714750"/>
            <a:ext cx="49053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It interprets language, weighs patterns and generates a plausible response.</a:t>
            </a:r>
          </a:p>
        </p:txBody>
      </p:sp>
    </p:spTree>
    <p:extLst>
      <p:ext uri="{BB962C8B-B14F-4D97-AF65-F5344CB8AC3E}">
        <p14:creationId xmlns:p14="http://schemas.microsoft.com/office/powerpoint/2010/main" val="4061064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870AD3-C185-4B9E-9F11-4F2956C1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64B2CF-B113-4589-9A85-5648CD02A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B374B-6AF4-42A0-B3C8-3E4DC649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EB2989-2B34-4C52-BF1A-E6F2A584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2F9722-85E3-4192-BBEA-B7E423DEC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EA6815-4A3E-4F74-AD39-FF7A851A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0FF62-1615-455A-AC34-08ACC33CD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6095A-E602-4FC9-A4D7-361AC467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8C08CB-565A-4EDB-B2FB-1563A17D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Think of an LLM as an extremely well-read autocomplete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FDD91-3670-4315-A4A4-368AE455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895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6675"/>
                </a:solidFill>
              </a:defRPr>
            </a:pPr>
            <a:r>
              <a:rPr sz="1575" b="0" i="0">
                <a:solidFill>
                  <a:srgbClr val="5B6675"/>
                </a:solidFill>
              </a:rPr>
              <a:t>It reads your words in small chunks, called tokens, and predicts what should come next.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34699D-7D94-46EA-AB03-1E9967754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4762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1E0329-A87A-4AD3-AA1B-E92CB7F8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4548A4-FC8D-4F80-A8F3-00F2E45A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YOU TYPE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C4647-37E5-4C2D-8386-048BD7EC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4419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Draft a warm, concise email about airport lounge access...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E734A1-FF5E-4093-A4EC-061986772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4762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28F002-6708-4009-922E-CA7420CE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60985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7500D9-609D-463F-A06D-498D58F8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6670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IT CONTINUES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F138CB-8B2F-49C2-B403-D5F99EC1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048000"/>
            <a:ext cx="4419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...using the patterns and context it can see in the conversation.</a:t>
            </a:r>
          </a:p>
        </p:txBody>
      </p:sp>
    </p:spTree>
    <p:extLst>
      <p:ext uri="{BB962C8B-B14F-4D97-AF65-F5344CB8AC3E}">
        <p14:creationId xmlns:p14="http://schemas.microsoft.com/office/powerpoint/2010/main" val="7054821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043743-048E-4BD4-9828-A38C29E73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886069-2C1F-49B4-832C-10ADDFC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2B9368-06E4-44B3-B10C-49576F651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34167A-31E2-45E7-AE45-F2526366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BA68D2-89D7-4394-A8A7-8ECE4029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E2000-614C-48FB-9A2D-5D12854AA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14E63B-4DD8-448A-A1FB-19B35BD3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8A6E30-660B-4D91-8FF1-F1ADF1059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413FCE-23A8-4313-B593-545D8748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Three useful limits to keep in mind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3DF2A-D4CE-42D8-AE0A-89D6134C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34099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DE1B7-5344-4143-8A28-1FF0CAA3A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982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7C232-E48F-43FE-BF72-DF108273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669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TOKENS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EC446-38B9-4D05-89FE-1E4D4781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86075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Small chunks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94054E-595A-4BC6-A8EC-2E5369F9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3067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AI reads and writes in chunks of text, not whole thoughts.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4122E-04A6-4B38-9E2C-7ED581CD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38375"/>
            <a:ext cx="34099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163312-FF47-4DC7-AF42-4332491D6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0982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624D2F-3B70-42EB-B333-578DC52A1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669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CONTEXT WINDOW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2A4046-67D7-43D1-83A6-14D1608E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86075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A working memory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06B59-C45D-4019-9216-DE6606975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619500"/>
            <a:ext cx="3067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It can only use the information currently available to 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4FC8FE-2B52-480A-82AB-A7F42F51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38375"/>
            <a:ext cx="34099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412119-F09E-4A33-8F73-86D0F408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0982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93FFC07-9BF9-4E82-8D19-E825C6C1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6697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HALLUCINATION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B56FBE5-6CD4-4DC4-9FF0-5616EF3F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86075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A confident mistake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5110AA-068C-42A2-9588-F8988130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19500"/>
            <a:ext cx="3067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It can invent details when the answer is uncertain or missing.</a:t>
            </a:r>
          </a:p>
        </p:txBody>
      </p:sp>
    </p:spTree>
    <p:extLst>
      <p:ext uri="{BB962C8B-B14F-4D97-AF65-F5344CB8AC3E}">
        <p14:creationId xmlns:p14="http://schemas.microsoft.com/office/powerpoint/2010/main" val="99358824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5EBB32-E59E-4525-908D-EF1B6065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FF0376-DE68-4589-9BF3-82FB943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747E7-DF33-495B-AECB-915D1607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1A3C8A-D8C0-4925-B44E-63D8E5E8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237F82-177D-462E-B7ED-9ED59E0A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61DBB-E798-4105-B2E1-0ADBB214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80A53-D149-413F-9230-8DFFD32B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FOUNDATION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DAEE06-A4F8-4137-9362-2FB6EDE1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3E719-EA7C-4352-8E51-1B00B3922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Where GenAI shows up in everyday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A7228A-854D-4F64-9EF7-5AC58DDD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34099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C7AE47-EA6A-4095-B197-28363D0F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1791F0-805F-4AFD-A8F0-83355925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WORDS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33D80-836B-4504-8A4D-B15BC3B4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Write &amp; research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8F1977-86C2-4910-A506-D4B4BAB0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3067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Drafts • summaries • search • translation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A1E778-7699-477C-B1CC-62933D715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34099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3E37D-4285-4F22-A404-DBF202362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145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9356DE-0F46-4590-8FBA-6B14C1B2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717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NUMBERS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671418-26CB-4C46-88B7-9703D54F1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Code &amp; data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691F24-2ED7-45A1-8120-D322516F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24250"/>
            <a:ext cx="3067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Formulas • explanations • analysis • automation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184FB5-7D7B-4542-8D6E-CE34941E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43125"/>
            <a:ext cx="3409950" cy="247650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77931C-0F5B-411B-AC30-544DB3B9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145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0FCDAA-8E03-4A77-8108-960C31643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717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VISUALS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35F18-FF7C-42A7-AEBE-C09F1FAF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90825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Create &amp; communicate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132BEB-1887-4EF1-A13A-E9754A0C3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24250"/>
            <a:ext cx="3067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Images • video • slides • personal assistants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4842CC-56B6-4CB2-B538-84A3F84A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911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202A"/>
                </a:solidFill>
              </a:defRPr>
            </a:pPr>
            <a:r>
              <a:rPr sz="1500" b="1" i="0">
                <a:solidFill>
                  <a:srgbClr val="18202A"/>
                </a:solidFill>
              </a:rPr>
              <a:t>The question is not “Can AI do this?”  It is “How can it make this task clearer, faster or more consistent?”</a:t>
            </a:r>
          </a:p>
        </p:txBody>
      </p:sp>
    </p:spTree>
    <p:extLst>
      <p:ext uri="{BB962C8B-B14F-4D97-AF65-F5344CB8AC3E}">
        <p14:creationId xmlns:p14="http://schemas.microsoft.com/office/powerpoint/2010/main" val="14910939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17A2450-97EE-4D3D-AAD8-FB96E30A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8E8C9-12F2-4CA1-9040-B5D1D4B2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7D84A-A042-4BFA-BBC4-28F29C431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CA0E6-952E-4BEF-9028-41EF16402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1A06A-F702-4B63-BBA1-EE9D118D0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33615-617B-4381-9C15-246B455A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6A1A1D-36DF-4B29-AEF1-8969EF18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TRY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2C7EC4-F921-41DC-80E7-F36BAF3C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CE6CE6-D4C4-4427-AED6-EDAF776B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38250"/>
            <a:ext cx="3000375" cy="3000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6C83C-CB79-42C0-8D3A-6654B923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6B4D"/>
                </a:solidFill>
              </a:defRPr>
            </a:pPr>
            <a:r>
              <a:rPr sz="1350" b="1" i="0">
                <a:solidFill>
                  <a:srgbClr val="F26B4D"/>
                </a:solidFill>
              </a:rPr>
              <a:t>POLL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D6A5E6-6D9C-4FA7-AB5F-5F53F5E4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8202A"/>
                </a:solidFill>
              </a:defRPr>
            </a:pPr>
            <a:r>
              <a:rPr sz="2850" b="1" i="0">
                <a:solidFill>
                  <a:srgbClr val="18202A"/>
                </a:solidFill>
              </a:rPr>
              <a:t>Which task would you trust AI to help with first?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27F39E-454C-450A-9716-57DF7E33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675"/>
                </a:solidFill>
              </a:defRPr>
            </a:pPr>
            <a:r>
              <a:rPr sz="1500" b="0" i="0">
                <a:solidFill>
                  <a:srgbClr val="5B6675"/>
                </a:solidFill>
              </a:rPr>
              <a:t>Choose one: draft, summarise, analyse, brainstorm. Then share why.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A7B9C-D870-4DA6-9D50-31B7BB5F1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223837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075A8-1497-4A7A-8170-1B37B8DF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02A"/>
                </a:solidFill>
              </a:defRPr>
            </a:pPr>
            <a:r>
              <a:rPr sz="1350" b="1" i="0">
                <a:solidFill>
                  <a:srgbClr val="18202A"/>
                </a:solidFill>
              </a:rPr>
              <a:t>2 minutes</a:t>
            </a:r>
          </a:p>
          <a:p xmlns:a="http://schemas.openxmlformats.org/drawingml/2006/main">
            <a:pPr algn="ctr">
              <a:defRPr sz="1350" b="1" i="0">
                <a:solidFill>
                  <a:srgbClr val="18202A"/>
                </a:solidFill>
              </a:defRPr>
            </a:pPr>
            <a:r>
              <a:rPr sz="1350" b="1" i="0">
                <a:solidFill>
                  <a:srgbClr val="18202A"/>
                </a:solidFill>
              </a:rPr>
              <a:t>Pair up. Pick a view.</a:t>
            </a:r>
          </a:p>
        </p:txBody>
      </p:sp>
    </p:spTree>
    <p:extLst>
      <p:ext uri="{BB962C8B-B14F-4D97-AF65-F5344CB8AC3E}">
        <p14:creationId xmlns:p14="http://schemas.microsoft.com/office/powerpoint/2010/main" val="18643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2E6F09-1B60-45C8-8C2D-3CD69138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F251B-BB96-4446-83BD-CEBBC5774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9BAF64-0D97-4DF9-A31F-5DD295FE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B5F8C-2433-483C-B2A1-CFF40C64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627DA7-640B-4D73-9F19-C6A6BEB0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E97224-FB34-43DB-8E5E-50336418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71931-2A43-4B96-A974-FE9D41F0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PROMPT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A72798-C080-4EC1-8837-A1A8D51A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3CBA8-36FD-4E21-9826-96A6950C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Prompting is the art of reducing ambiguity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4A30A9-D356-45A3-B685-9347C15E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B6675"/>
                </a:solidFill>
              </a:defRPr>
            </a:pPr>
            <a:r>
              <a:rPr sz="1350" b="0" i="0">
                <a:solidFill>
                  <a:srgbClr val="5B6675"/>
                </a:solidFill>
              </a:rPr>
              <a:t>More words are not automatically better. Useful detail is better.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4BCEA-35FD-4903-BAF0-7380D6C9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81250"/>
            <a:ext cx="847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8202A"/>
                </a:solidFill>
              </a:defRPr>
            </a:pPr>
            <a:r>
              <a:rPr sz="1950" b="1" i="0">
                <a:solidFill>
                  <a:srgbClr val="18202A"/>
                </a:solidFill>
              </a:rPr>
              <a:t>A good prompt makes the job, audience, evidence and output visible.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27F705-91C4-43E8-9BDB-9E7D0B71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38137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8BF7F-5B2B-4A9E-81BD-BDA7C671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867150"/>
            <a:ext cx="10953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202A"/>
                </a:solidFill>
              </a:defRPr>
            </a:pPr>
            <a:r>
              <a:rPr sz="1500" b="1" i="0">
                <a:solidFill>
                  <a:srgbClr val="18202A"/>
                </a:solidFill>
              </a:rPr>
              <a:t>Less</a:t>
            </a:r>
          </a:p>
          <a:p xmlns:a="http://schemas.openxmlformats.org/drawingml/2006/main">
            <a:pPr algn="ctr">
              <a:defRPr sz="1500" b="1" i="0">
                <a:solidFill>
                  <a:srgbClr val="18202A"/>
                </a:solidFill>
              </a:defRPr>
            </a:pPr>
            <a:r>
              <a:rPr sz="1500" b="1" i="0">
                <a:solidFill>
                  <a:srgbClr val="18202A"/>
                </a:solidFill>
              </a:rPr>
              <a:t>guessing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3C259D-A30D-48A0-96FD-E9D3A784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81425"/>
            <a:ext cx="66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2E55D4"/>
                </a:solidFill>
              </a:defRPr>
            </a:pPr>
            <a:r>
              <a:rPr sz="2700" b="1" i="0">
                <a:solidFill>
                  <a:srgbClr val="2E55D4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119F07-249D-4DC6-BC02-16C83C9D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81375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7999F1-490F-432F-87F4-7D0FF821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67150"/>
            <a:ext cx="1028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202A"/>
                </a:solidFill>
              </a:defRPr>
            </a:pPr>
            <a:r>
              <a:rPr sz="1500" b="1" i="0">
                <a:solidFill>
                  <a:srgbClr val="18202A"/>
                </a:solidFill>
              </a:rPr>
              <a:t>More</a:t>
            </a:r>
          </a:p>
          <a:p xmlns:a="http://schemas.openxmlformats.org/drawingml/2006/main">
            <a:pPr algn="ctr">
              <a:defRPr sz="1500" b="1" i="0">
                <a:solidFill>
                  <a:srgbClr val="18202A"/>
                </a:solidFill>
              </a:defRPr>
            </a:pPr>
            <a:r>
              <a:rPr sz="1500" b="1" i="0">
                <a:solidFill>
                  <a:srgbClr val="18202A"/>
                </a:solidFill>
              </a:rPr>
              <a:t>useful</a:t>
            </a:r>
          </a:p>
        </p:txBody>
      </p:sp>
    </p:spTree>
    <p:extLst>
      <p:ext uri="{BB962C8B-B14F-4D97-AF65-F5344CB8AC3E}">
        <p14:creationId xmlns:p14="http://schemas.microsoft.com/office/powerpoint/2010/main" val="5594536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C9744A-754B-4B45-A1FB-C44A748C1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F6EE2E-8CB7-4247-9A23-7E4BE4FA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4BF266-3F93-48B3-AD4C-7BC9A0DEC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801043-A7BE-4E39-AA3B-BF19262B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FB5E2-FF1E-4082-B8BA-249B6261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821803-BB98-4CE1-9916-8D01CBEFD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41B7F-A51F-40B8-9A3A-76134AB03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PROMPT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6FA24-C01C-4FB0-9E1B-07527707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7BC5F4-AFF3-4237-96C6-F04398729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Use RTCF to make a request actionable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275E17-1935-42D9-8351-B085F8F8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2490788" cy="2571750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CD108B-0472-4B95-B05D-1A5726E8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D41043-3119-4F6E-B7C7-D144B504F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08F4B-FE94-41ED-A8BD-0311952F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Role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253958-A5B2-49B2-A8A0-81ADAD5BA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2147888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Who should the AI act as?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F03DE1-BC81-4938-9D5B-50848CFF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190750"/>
            <a:ext cx="2490788" cy="2571750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AEE20-1C59-4739-86D9-48977F81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4E4A2-F537-4E8E-A216-A272EF5B3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2191C2-D865-42FC-BAF4-801799F5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838450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77D49E-295E-41E6-8604-C9913412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571875"/>
            <a:ext cx="2147888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What exact deliverable do you need?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91484D-0C4D-4D8B-BB22-2295182B0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90750"/>
            <a:ext cx="2490788" cy="2571750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CD8B5-EBBB-465A-9C0F-56BD67759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E005C5-44CE-4259-BD2F-337208FCF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6A6AEB-9CCD-4317-8CA2-93A777A5D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838450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Context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CEEE6C-F9B4-48FA-887E-9920846D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571875"/>
            <a:ext cx="2147888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What facts, audience and constraints matter?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F23C48-9C79-4BF3-8685-64A0C943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190750"/>
            <a:ext cx="2490788" cy="2571750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2A4B11-352A-4379-BB34-FBE73351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50C227-4264-4D1D-A155-DE8F9ECB7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0445C7-2250-4735-8AAC-D18FE719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838450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Format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2F6B0B-CD3C-4418-AB9E-27BB74C4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571875"/>
            <a:ext cx="2147888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What should the response look like?</a:t>
            </a:r>
          </a:p>
        </p:txBody>
      </p:sp>
    </p:spTree>
    <p:extLst>
      <p:ext uri="{BB962C8B-B14F-4D97-AF65-F5344CB8AC3E}">
        <p14:creationId xmlns:p14="http://schemas.microsoft.com/office/powerpoint/2010/main" val="15808591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5AC47D-0AC8-4BD4-A542-1ACF9AD0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E1140F-E594-416A-9E8C-6EA2BAE0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34D723-4D78-430D-94FF-2627A8B47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90594-A26F-4879-88AD-42CACAEEF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9ECF0D-24B3-44A5-8588-5B2A1E04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211CA-01BE-45B2-AB05-AEF78081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218129-808D-41EA-81D6-2F81C5F8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PROMPT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F123B0-BB73-4967-A7B6-E2A1D1151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80CDF1-DA81-49C7-9031-EA80B7BDB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Our running task: announce a new travel benefit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1C4826-A06B-4D40-A1F0-0073E789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481012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D2E99-6C15-4983-B168-011C4C436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9077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4EA26C-5C6F-4277-B0FE-316D75FF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479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VAGUE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FB5D8A-CB67-46C7-944A-3E78C397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28925"/>
            <a:ext cx="44672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Write an email explaining the new travel card benefits.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51CBCB-A9B5-4C55-B429-AFD294F6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810125" cy="209550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5E67B4-4333-4FC7-B650-B1956F15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9077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FCF00-3490-4CE1-887B-71044F5E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479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WHAT AI STILL HAS TO GUESS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8B646-EC1E-4E9E-AF2B-EEBAFE22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28925"/>
            <a:ext cx="44672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Who is reading it?</a:t>
            </a:r>
          </a:p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Which benefits matter?</a:t>
            </a:r>
          </a:p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How long should it be?</a:t>
            </a:r>
          </a:p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What tone is right?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82721E-AF88-4952-BFEF-64F00C36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0958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8202A"/>
                </a:solidFill>
              </a:defRPr>
            </a:pPr>
            <a:r>
              <a:rPr sz="1500" b="1" i="0">
                <a:solidFill>
                  <a:srgbClr val="18202A"/>
                </a:solidFill>
              </a:rPr>
              <a:t>When the brief is missing, the model fills the gaps for you.</a:t>
            </a:r>
          </a:p>
        </p:txBody>
      </p:sp>
    </p:spTree>
    <p:extLst>
      <p:ext uri="{BB962C8B-B14F-4D97-AF65-F5344CB8AC3E}">
        <p14:creationId xmlns:p14="http://schemas.microsoft.com/office/powerpoint/2010/main" val="126845194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046AC0-AAFE-4494-93B9-BADB054CA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1F44F-C99C-4797-8457-95DB26CD6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307814-B6C7-4D21-B2E9-8342667E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7257A-CA5C-4022-AE63-1AE4431D6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1B2D25-BDE4-4477-BF85-80E2E41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8E79F1-9608-40C5-99FD-47362C7A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0E7824-5A24-45D3-B92F-3321867E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PROMPT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00B524-E2AD-40A4-84A9-D086388E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822294-52BE-4158-8C5C-829E8175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Step 1: give AI a role and a precise task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63F1CE-908E-4043-97B4-63732FAB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10382250" cy="171450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959A86-9711-4731-8641-300D8B70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860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6038F-1059-4421-A814-E30DB039B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431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BETTER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650905-3478-4C38-BB41-459C1673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24175"/>
            <a:ext cx="10039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Act as a card marketing copywriter. Draft 3 subject lines and a short email announcing a new travel benefit.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034B90-4CBB-4F75-8655-D5CAE232C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625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C8C69"/>
                </a:solidFill>
              </a:defRPr>
            </a:pPr>
            <a:r>
              <a:rPr sz="1575" b="1" i="0">
                <a:solidFill>
                  <a:srgbClr val="2C8C69"/>
                </a:solidFill>
              </a:rPr>
              <a:t>Why it improves: the model now knows the job and deliverables.</a:t>
            </a:r>
          </a:p>
        </p:txBody>
      </p:sp>
    </p:spTree>
    <p:extLst>
      <p:ext uri="{BB962C8B-B14F-4D97-AF65-F5344CB8AC3E}">
        <p14:creationId xmlns:p14="http://schemas.microsoft.com/office/powerpoint/2010/main" val="151235727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D60ED4-C2C1-4CF7-B216-A3BC06A9F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F27FC8-EF76-4A6A-B58E-42C58B782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E5EB9-5976-4F76-B260-84F8B7F8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35FC21-FCE9-4E1D-96BC-FFE9B201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ACEC69-4556-4DFD-B84A-5132AA43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3AACEB-6F3F-4329-96B6-A76158D78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5AFAA-B14E-487C-9EA8-6D3AB8C5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PROMPT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B1296-DFA8-406E-9554-7954F81D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F307DF-BAF1-47BB-9160-09B6F9FC7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Step 2: add the context that changes the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43673-3130-4872-89F6-F6DF3892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107632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3D7A6-6434-4C2E-9CBE-FD7B70FD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027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5D4BE-28BB-433C-8755-80CD78C1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A0CF6-E00A-4D2C-8255-411CC0E00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104203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Audience: Priya, a price-conscious agency owner who travels twice a month and skims emails on her phone.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Facts: 1,300+ airport lounges; no foreign transaction fees; 3x points on direct flights/hotels; $295 annual fee waived in year one; invitation-only upgrade.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Goal: drive upgrade requests within 30 days.</a:t>
            </a:r>
          </a:p>
        </p:txBody>
      </p:sp>
    </p:spTree>
    <p:extLst>
      <p:ext uri="{BB962C8B-B14F-4D97-AF65-F5344CB8AC3E}">
        <p14:creationId xmlns:p14="http://schemas.microsoft.com/office/powerpoint/2010/main" val="6410307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59313D-49B1-4B03-9C92-68D2A99F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5758B8-B530-4254-9940-C56B21046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67E00-27D4-4128-B774-C84D8E80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1709A-35E9-49D5-BDEE-942632FF1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B7E08-7772-4F7B-A9E1-FD64A667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78F870-D2AF-49B6-89B9-97845F93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B857E-9C8D-46B8-9037-533BA3C6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PROMPT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6A3D3-B3F3-4CB5-9239-1C41398D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47E150-44FB-4653-A5EB-F0B93C82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Step 3: specify the format and guardrails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1B8DA-A245-491C-923A-20843AD9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763250" cy="2714625"/>
          </a:xfrm>
          <a:prstGeom xmlns:a="http://schemas.openxmlformats.org/drawingml/2006/main" prst="roundRect">
            <a:avLst>
              <a:gd name="adj" fmla="val 5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082E6-D803-43E8-8AED-A5CB2BAA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FBBE7-21AE-4AEA-BD5A-C0F95E72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RTCF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B39FC-B320-42BB-A5D2-846ACC4E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104203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Act as a card marketing copywriter. Create 3 subject lines and a 110-word email for Priya. Lead with lounge access. Use a confident, warm, non-salesy tone. Use plain language. Include only facts below; do not invent benefits or numbers. End with one clear upgrade CTA.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DCF3E6-5952-421E-B9A7-D254764D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191125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26B4D"/>
                </a:solidFill>
              </a:defRPr>
            </a:pPr>
            <a:r>
              <a:rPr sz="1800" b="1" i="0">
                <a:solidFill>
                  <a:srgbClr val="F26B4D"/>
                </a:solidFill>
              </a:rPr>
              <a:t>Same task. Fewer surprises.</a:t>
            </a:r>
          </a:p>
        </p:txBody>
      </p:sp>
    </p:spTree>
    <p:extLst>
      <p:ext uri="{BB962C8B-B14F-4D97-AF65-F5344CB8AC3E}">
        <p14:creationId xmlns:p14="http://schemas.microsoft.com/office/powerpoint/2010/main" val="10874246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DE23B8-DD0A-460E-A3D2-9D09664A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5C19F1-D639-4C89-B2E0-FE20DD4E7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658EB3-ECE8-43D1-9DBB-9303192D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4725CC-71B5-41EA-BE97-B5FF71B1E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58DB1B-576B-4195-B738-CC592709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058D8-B6A9-469C-BABE-1606ED3E4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05B3B0-8B4F-4DF2-A94F-4F3E50C9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TRY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77C19-6AAB-4303-AA57-49AE35BA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58B88-749E-455D-B1FF-5C73D80D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38250"/>
            <a:ext cx="3000375" cy="3000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FE4FC3-0410-48ED-956C-3ADB6527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6B4D"/>
                </a:solidFill>
              </a:defRPr>
            </a:pPr>
            <a:r>
              <a:rPr sz="1350" b="1" i="0">
                <a:solidFill>
                  <a:srgbClr val="F26B4D"/>
                </a:solidFill>
              </a:rPr>
              <a:t>EXERCISE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0BB2F-0C39-4A95-8D40-880FFFBC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8202A"/>
                </a:solidFill>
              </a:defRPr>
            </a:pPr>
            <a:r>
              <a:rPr sz="2850" b="1" i="0">
                <a:solidFill>
                  <a:srgbClr val="18202A"/>
                </a:solidFill>
              </a:rPr>
              <a:t>Improve the original prompt using RTCF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695D5B-89CF-4611-9894-4793D346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675"/>
                </a:solidFill>
              </a:defRPr>
            </a:pPr>
            <a:r>
              <a:rPr sz="1500" b="0" i="0">
                <a:solidFill>
                  <a:srgbClr val="5B6675"/>
                </a:solidFill>
              </a:rPr>
              <a:t>Use the fact sheet, persona and tone guidance. Aim for a usable first draft.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DFDF18-3846-49FA-BA79-48C660DE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223837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69E09C-B7DD-4775-AA41-893FC198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02A"/>
                </a:solidFill>
              </a:defRPr>
            </a:pPr>
            <a:r>
              <a:rPr sz="1350" b="1" i="0">
                <a:solidFill>
                  <a:srgbClr val="18202A"/>
                </a:solidFill>
              </a:rPr>
              <a:t>2 minutes</a:t>
            </a:r>
          </a:p>
          <a:p xmlns:a="http://schemas.openxmlformats.org/drawingml/2006/main">
            <a:pPr algn="ctr">
              <a:defRPr sz="1350" b="1" i="0">
                <a:solidFill>
                  <a:srgbClr val="18202A"/>
                </a:solidFill>
              </a:defRPr>
            </a:pPr>
            <a:r>
              <a:rPr sz="1350" b="1" i="0">
                <a:solidFill>
                  <a:srgbClr val="18202A"/>
                </a:solidFill>
              </a:rPr>
              <a:t>Pair up. Pick a view.</a:t>
            </a:r>
          </a:p>
        </p:txBody>
      </p:sp>
    </p:spTree>
    <p:extLst>
      <p:ext uri="{BB962C8B-B14F-4D97-AF65-F5344CB8AC3E}">
        <p14:creationId xmlns:p14="http://schemas.microsoft.com/office/powerpoint/2010/main" val="95687929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7B6B1F-162F-461A-BCB6-6E396DAB6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179803-8AAF-47F1-A955-8CC0F717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81CB72-7577-4322-99A9-A616C5FF6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800173-C742-47E9-84E8-D8378C57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11BBC2-2349-49C8-A9D4-43E0E8B6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E21423-2370-4FD5-AAF2-F58C6885D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9FE9DB-CB5B-4AED-A781-5C113A493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PROMPT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0965CC-A2FC-46C9-8732-64079445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8EA2B-4A4F-49A7-B5B8-8C4E660A3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Use examples when the pattern matters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7764FE-1877-47EB-93F8-DEE4CDB6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095875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0281C-F0E5-417F-9C2D-9A9E106B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FEC5A8-571F-445A-A1BD-6A83C8870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95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ONE-SHOT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B31EB1-D6FE-4A42-9917-63B4849D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76550"/>
            <a:ext cx="47529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Example output style:</a:t>
            </a:r>
          </a:p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Subject: Your next trip, made easier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Now write 3 new options in the same concise, benefit-led style.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984ABE-F6A7-4F53-BA1A-AC1A1E065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5095875" cy="2143125"/>
          </a:xfrm>
          <a:prstGeom xmlns:a="http://schemas.openxmlformats.org/drawingml/2006/main" prst="roundRect">
            <a:avLst>
              <a:gd name="adj" fmla="val 7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B0066-21E8-49EA-99D4-2C9346FF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3840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14AB0A-C380-46A6-A552-981EAA37C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9555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WHEN TO USE 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3B82D0-2929-4453-ABFE-04EA24B6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876550"/>
            <a:ext cx="47529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When tone, structure or format is hard to describe - but easy to show.</a:t>
            </a:r>
          </a:p>
        </p:txBody>
      </p:sp>
    </p:spTree>
    <p:extLst>
      <p:ext uri="{BB962C8B-B14F-4D97-AF65-F5344CB8AC3E}">
        <p14:creationId xmlns:p14="http://schemas.microsoft.com/office/powerpoint/2010/main" val="78438322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3D23D-A6C1-4A6F-B6A3-5B5910365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FB534-D519-4745-83E5-4224C2D0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F1BD7E-EEF0-4F5F-A685-7350DBCE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6BCDC-45F8-4FC7-B0EA-8D9AEE9F2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21A4E0-E88D-471F-AC41-2EDABDD5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92C48C-075E-4656-B0D1-044ABA22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CEC25-2A15-4EDC-A49C-22BB05214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PROMPT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798114-CC04-41FF-A50F-520313AA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C3B2A-218F-45B1-897C-0FBA646B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Four small techniques that prevent messy outputs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1436E-BE92-4B9A-9D60-C2967DF6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490788" cy="2619375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E8DE0A-2E6F-4F09-89A1-6F454D5E3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B9632E-AAB1-46A3-85A9-E4AE5CDDD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DELIMIT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0F35C-4B2F-48EC-897B-178C793B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Fence the 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2BFEA-14D7-43A5-A538-8CE4460CE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4788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Put source content between clear markers.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08E0F-13BD-4355-8001-3BB560A6C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143125"/>
            <a:ext cx="2490788" cy="2619375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A93930-DCE7-4200-9613-65B20868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3145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BD5357-9D9D-4C3A-8D66-9CED873F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3717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FORMAT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E6A839C-0BFD-4DF7-A61A-6FB9FEF9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790825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Name the shape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A6913-1A03-4151-AE9E-B6473411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524250"/>
            <a:ext cx="214788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Ask for a table, list or word limit.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11AE6-15D4-4763-9386-698E2E7BA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43125"/>
            <a:ext cx="2490788" cy="2619375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F64BC2-3056-42A0-9DD4-70510247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145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295BD-3238-477E-9ABD-26888AB5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717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QUESTIONS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47714B-02E5-49D5-9DBC-C9BC18B6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90825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Invite a pause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03BF2-285F-4149-8703-B160E200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524250"/>
            <a:ext cx="214788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Ask AI to clarify missing details first.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83FBBC-0C32-470D-BA65-BF9B21298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143125"/>
            <a:ext cx="2490788" cy="2619375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CCC0A-73CD-4BDB-845D-F94B9FFF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3145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3BAAED-B0A3-4023-A376-A8127EA5F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23717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CRITIQUE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BDAE7E-2D64-49D2-8535-A5249EFA1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790825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Ask it to check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D861E3-0B95-4202-B189-B89FD19A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524250"/>
            <a:ext cx="2147888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Review against a defined rubric.</a:t>
            </a:r>
          </a:p>
        </p:txBody>
      </p:sp>
    </p:spTree>
    <p:extLst>
      <p:ext uri="{BB962C8B-B14F-4D97-AF65-F5344CB8AC3E}">
        <p14:creationId xmlns:p14="http://schemas.microsoft.com/office/powerpoint/2010/main" val="80342479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D21BAA-73F5-4733-B51F-FFDB7C6C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433CB0-6FDC-4883-8240-082E343C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765993-43BC-4DDF-AF5E-D7878ADB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18EA4-FEBA-410C-8BB7-E065CFEC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3F63DC-5AED-4B4B-911F-E0FB80BD1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A84E8-B006-43A9-9EF9-930705A47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FC50A2-E0F8-4BCE-B98C-D6AB0FB8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TRY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A4129-471E-4F6D-8DB6-ABB4A755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29FB5C-EDF4-4F9E-9A8B-2DFB7271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38250"/>
            <a:ext cx="3000375" cy="3000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34CBE9-63D1-4B7D-A693-8C392D16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6B4D"/>
                </a:solidFill>
              </a:defRPr>
            </a:pPr>
            <a:r>
              <a:rPr sz="1350" b="1" i="0">
                <a:solidFill>
                  <a:srgbClr val="F26B4D"/>
                </a:solidFill>
              </a:rPr>
              <a:t>PREDICT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1FFE3-B9AC-4B92-8ABC-E76F7B61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8202A"/>
                </a:solidFill>
              </a:defRPr>
            </a:pPr>
            <a:r>
              <a:rPr sz="2850" b="1" i="0">
                <a:solidFill>
                  <a:srgbClr val="18202A"/>
                </a:solidFill>
              </a:rPr>
              <a:t>Which prompt will produce the safer email?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01E8A1-99AE-4732-ACD2-79ACAE81F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675"/>
                </a:solidFill>
              </a:defRPr>
            </a:pPr>
            <a:r>
              <a:rPr sz="1500" b="0" i="0">
                <a:solidFill>
                  <a:srgbClr val="5B6675"/>
                </a:solidFill>
              </a:rPr>
              <a:t>Vote before you see the answer. Look for facts, audience, format and guardrails.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3D77F1-4CF9-4423-9EB7-A4841351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223837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F9881-C8D0-4AE0-8C45-629F837F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02A"/>
                </a:solidFill>
              </a:defRPr>
            </a:pPr>
            <a:r>
              <a:rPr sz="1350" b="1" i="0">
                <a:solidFill>
                  <a:srgbClr val="18202A"/>
                </a:solidFill>
              </a:rPr>
              <a:t>2 minutes</a:t>
            </a:r>
          </a:p>
          <a:p xmlns:a="http://schemas.openxmlformats.org/drawingml/2006/main">
            <a:pPr algn="ctr">
              <a:defRPr sz="1350" b="1" i="0">
                <a:solidFill>
                  <a:srgbClr val="18202A"/>
                </a:solidFill>
              </a:defRPr>
            </a:pPr>
            <a:r>
              <a:rPr sz="1350" b="1" i="0">
                <a:solidFill>
                  <a:srgbClr val="18202A"/>
                </a:solidFill>
              </a:rPr>
              <a:t>Pair up. Pick a view.</a:t>
            </a:r>
          </a:p>
        </p:txBody>
      </p:sp>
    </p:spTree>
    <p:extLst>
      <p:ext uri="{BB962C8B-B14F-4D97-AF65-F5344CB8AC3E}">
        <p14:creationId xmlns:p14="http://schemas.microsoft.com/office/powerpoint/2010/main" val="101648447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012B20-F751-4A13-96E2-40AA195D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96DEB-3C33-4E32-A641-C2F82279F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21E59C-236B-4A92-AF9F-8BA75146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E4FC3-5BD1-4609-A878-0D0DF40A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8F2685-D9AD-4AD1-AE7E-4C964441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696C7-2586-4804-A26D-F115E018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B96BC-90C1-4770-B5F1-C3EB7524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PROMPT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E0C6C-810A-4A70-8FE4-B0B13F1D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44F9E2-7863-439C-BA40-CD7F1272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For complex work, break the job into smaller moves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A98FE8-5DF7-4127-9087-2FF9B1CF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95450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B6675"/>
                </a:solidFill>
              </a:defRPr>
            </a:pPr>
            <a:r>
              <a:rPr sz="1575" b="0" i="0">
                <a:solidFill>
                  <a:srgbClr val="5B6675"/>
                </a:solidFill>
              </a:rPr>
              <a:t>Instead of “Make a project update”, try a sequence: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306875-88C7-4B6C-849E-413D4DC59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2490788" cy="2428875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FF6E00-062C-4EFF-831E-118514AD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16C8D7-E15B-47BC-8C36-4E43B1747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2549C7-D16C-41C2-B9E2-494685AA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Extract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07FE78-6125-44F1-BDC3-DA2EC6E0E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214788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Pull the decisions, risks and actions from notes.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2EBC0-B188-428F-8C97-FFBDFF26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286000"/>
            <a:ext cx="2490788" cy="2428875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D58668-08C9-4E87-A6E9-F10B7B7CE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4574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E2327C-6DA8-4DEF-87A5-0E6AA61E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5146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EB5236-1E36-45FC-B35D-58D63079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933700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Organise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183E53-FF9C-4E2D-9776-A06E656B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667125"/>
            <a:ext cx="214788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Group them by audience and urgency.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862DAD-68C7-42B4-B939-0BF007ABA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86000"/>
            <a:ext cx="2490788" cy="2428875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AD1AA-C583-4B07-B732-8EB2E381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574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2199FD-E42B-4FD2-8257-144CFAB2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146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277B6B-0BC9-4103-9CBB-3D0EB00E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33700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Draft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314451-8421-4FB7-8640-D2C933E4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67125"/>
            <a:ext cx="214788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Write the update in the required format.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AB933A-8C81-4BC5-87E0-F65CD028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286000"/>
            <a:ext cx="2490788" cy="2428875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C10DD2-5C85-45EE-B543-6A2D076F8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4574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6842B1-368A-4757-8A77-C5616BEDA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25146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894498-11C9-41BD-A16C-78C27CC7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933700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52B6B8-3C37-4003-A1F6-48B5A5DB7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667125"/>
            <a:ext cx="214788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Check against the facts and desired tone.</a:t>
            </a:r>
          </a:p>
        </p:txBody>
      </p:sp>
    </p:spTree>
    <p:extLst>
      <p:ext uri="{BB962C8B-B14F-4D97-AF65-F5344CB8AC3E}">
        <p14:creationId xmlns:p14="http://schemas.microsoft.com/office/powerpoint/2010/main" val="207070715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2F00E0-3DEE-43E0-981B-2C4849368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23070C-4358-4960-A4BB-B72705C0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7874E-D08C-42B4-887F-BB62E7FA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EF25B4-360B-444C-B784-A4689DC61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F71A0-5ABD-4DA1-8713-58BCBD9A9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1EA18-C2AD-47C6-869C-34EE287F5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335B3D-81C2-490A-A676-E16A2CB8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PROMPT 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FD401-F148-468A-8092-523AB02DB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D69E4-EA09-4E77-AA37-EBE64501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The best prompt is rarely the final 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7B0DDB-EFB4-4543-AD5B-A871848C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81250"/>
            <a:ext cx="9906000" cy="1952625"/>
          </a:xfrm>
          <a:prstGeom xmlns:a="http://schemas.openxmlformats.org/drawingml/2006/main" prst="roundRect">
            <a:avLst>
              <a:gd name="adj" fmla="val 78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D6A093-670B-4AA1-BB79-876527FE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33650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DE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EB5C6-E54E-4F0E-B84F-AF7BF724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590800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ITERATE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E643A7-CF8D-43E1-8E99-DA4FB1C0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71800"/>
            <a:ext cx="95631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1. Draft</a:t>
            </a:r>
          </a:p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2. Check against facts</a:t>
            </a:r>
          </a:p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3. Ask for a clearer version</a:t>
            </a:r>
          </a:p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4. Keep human judgement in the loop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E62398-DC7A-49C5-8D66-6320BD3A4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048250"/>
            <a:ext cx="971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26B4D"/>
                </a:solidFill>
              </a:defRPr>
            </a:pPr>
            <a:r>
              <a:rPr sz="1425" b="1" i="0">
                <a:solidFill>
                  <a:srgbClr val="F26B4D"/>
                </a:solidFill>
              </a:rPr>
              <a:t>Productivity Hack #1: Treat the first response as a starting point, not a verdict.</a:t>
            </a:r>
          </a:p>
        </p:txBody>
      </p:sp>
    </p:spTree>
    <p:extLst>
      <p:ext uri="{BB962C8B-B14F-4D97-AF65-F5344CB8AC3E}">
        <p14:creationId xmlns:p14="http://schemas.microsoft.com/office/powerpoint/2010/main" val="12596738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EB6147-01F6-4C9B-9E7B-F149C58F5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6C689-FBCD-4E33-8CF1-DF1E8CA3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06FEB-691A-4EEE-BB56-9038A0B5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8BDE54-7038-48F2-8664-BFD82C55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C2FB78-B03E-4935-806D-AE7AEAF7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14A2FF-7583-4D03-8EA7-76B69C636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01772-F67E-436F-BE73-189BC75A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CUSTOM GPTS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B53D6C-83B6-4203-8534-E0141989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21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DA668F-DACB-40C9-817E-669A6A6B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A prompt solves one request. A Custom GPT supports repeated requests.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E274B0-052F-4DB6-98B3-F405B5452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86000"/>
            <a:ext cx="5248275" cy="2428875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B430E7-32EF-418E-B8DB-98FC3EC2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1CB1A-F466-422E-9F51-5D90E1178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146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1AF417-102C-45A9-B84B-E8F916608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One-off help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1C267C-22CF-4BBB-AFEE-83774863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67125"/>
            <a:ext cx="490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You restate the role, context and format for each task.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0C512A-792C-4F7E-905B-EA45EECE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286000"/>
            <a:ext cx="5248275" cy="2428875"/>
          </a:xfrm>
          <a:prstGeom xmlns:a="http://schemas.openxmlformats.org/drawingml/2006/main" prst="roundRect">
            <a:avLst>
              <a:gd name="adj" fmla="val 6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1FF35-9053-4A4F-85FA-F7C141161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574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B4C3E1-0842-497E-99A3-B6F86F93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146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CUSTOM GPT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EC5C5-BDC2-4697-A974-BED293F2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33700"/>
            <a:ext cx="4905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Repeatable help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27FF2C-A7EA-47DE-B5A2-3F24209C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667125"/>
            <a:ext cx="4905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Instructions, knowledge and guardrails are already prepared.</a:t>
            </a:r>
          </a:p>
        </p:txBody>
      </p:sp>
    </p:spTree>
    <p:extLst>
      <p:ext uri="{BB962C8B-B14F-4D97-AF65-F5344CB8AC3E}">
        <p14:creationId xmlns:p14="http://schemas.microsoft.com/office/powerpoint/2010/main" val="16428888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26FBE8-79AA-465D-890E-6C5CB478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6F252-B59C-4C71-94EA-BB41C1B2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A18CA0-3F4C-43D1-91E1-93D5C87E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05802-0D85-45A1-BA00-D1D1376E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335ED-5F2E-4F4E-A001-37727183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828D4-25DF-4F5E-BE10-7A803A03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C50527-7C6C-4826-9DB3-3FA9AEBE6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CUSTOM GPTS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6DE0E-BFA1-4752-BAD6-01BEFAF4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22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537A3B-9DF1-48FA-9DC6-5E22CC8B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Build an assistant when the task is repeated, bounded and reviewable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81E70-0E28-43F1-A55C-52DB99202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4099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93AD00-4685-40C1-9A7A-72CD4350C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73C52-B18F-4AE2-B7C2-CDE0F12E1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GOOD FIT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BB934-2A68-4502-ABA6-F60C928D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Recurring questions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DAA92D-CB6B-4850-96B4-D8F21190D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3067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Policy, process, learning or communication support.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F88201-55C4-4497-B108-1CB0EC6D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099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D8A3CA-6D29-4547-A6BF-58652FAC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F0D6F2-EC88-4FDD-A1C1-B199DD0DB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NOT A FIT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01AAE6-6118-42F2-AB4D-3D58A850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High-stakes decisions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71E14C-6009-4943-9C07-B01EBCB9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3067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Do not delegate sensitive judgement or unverified answers.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6019E3-C15E-4275-BAD9-05DE5E2E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409950" cy="266700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D1C986-1B72-4679-B3BB-13249E45C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E047D5-3DF8-4539-95C0-3DE9F3EA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DESIGN TEST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2FE4D4-F84C-4CC5-B50A-D748BE119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Clear success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A5B11-64A5-4A28-8596-4C1292D54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71875"/>
            <a:ext cx="3067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You can state what a good answer must do.</a:t>
            </a:r>
          </a:p>
        </p:txBody>
      </p:sp>
    </p:spTree>
    <p:extLst>
      <p:ext uri="{BB962C8B-B14F-4D97-AF65-F5344CB8AC3E}">
        <p14:creationId xmlns:p14="http://schemas.microsoft.com/office/powerpoint/2010/main" val="140585654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B25307-203A-423E-B098-C1E77BA2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51362-84E5-4CEC-B3DD-3AEC27627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CD156-37B7-4A6D-A9FA-914D6161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10A3A-0DBF-4C7D-9492-B5A9DE60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31B00E-034F-4DF7-864C-4909E2E4E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A565A4-039C-4BFF-A22E-779624B8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60AF6-AAFA-470E-B06B-75145660A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CUSTOM GPTS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49804-4AF6-436C-AC61-4C8E410D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17BFDF-465E-47CD-8B8E-62F584D17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Use Four D before you build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3A6510-BC41-470F-A079-4662245D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43125"/>
            <a:ext cx="2490788" cy="2714625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0E83C0-D49D-401F-9FBE-11F51631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145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BF8857-0F93-42CB-97B9-C1E01F58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717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DECIPHER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C40FA-53CA-4EAF-B590-72D5DB302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90825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Find the real need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A7A950-21D6-43E2-94E8-1AE8EFAF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21478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What problem is happening now?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DF5AD1-2CD8-4441-B837-F5F20CDE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143125"/>
            <a:ext cx="2490788" cy="2714625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0821D9-A1F1-46EF-8B1E-FE658C4E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3145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DE197E-3355-431B-BFE7-F21A2969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3717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DECIDE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F9C7B-D13D-41E8-9D4D-374E3F64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790825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Choose the boundary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C60AA3-A98F-4A10-AD49-859AA147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524250"/>
            <a:ext cx="21478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What should it do - and not do?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9FA3B-9320-488F-8817-3AA9E49A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143125"/>
            <a:ext cx="2490788" cy="2714625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B0BEFD-B232-4B6F-B15B-D3670AE4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3145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E26DDA-AAF6-48DC-A932-AC4E77CB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717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DESCRIBE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1E372D-4963-4717-BB67-AA66DB6C9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90825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Write the instructions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90B538-81CD-4177-A192-5E48DEB0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524250"/>
            <a:ext cx="21478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Give it voice, inputs, outputs and rules.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8522BB-60DB-4E4C-B442-21618823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143125"/>
            <a:ext cx="2490788" cy="2714625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2B5755-C9DB-41DF-8E14-FD562BD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314575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6DD3FA-1645-4EE2-BEF5-FDF7D8D7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2371725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DELIBERATE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18B586-883D-4CB4-A51C-18B58CE39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790825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Test and refine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58652F-6E55-4D84-8DBE-7957E0668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524250"/>
            <a:ext cx="214788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Evaluate failures before sharing.</a:t>
            </a:r>
          </a:p>
        </p:txBody>
      </p:sp>
    </p:spTree>
    <p:extLst>
      <p:ext uri="{BB962C8B-B14F-4D97-AF65-F5344CB8AC3E}">
        <p14:creationId xmlns:p14="http://schemas.microsoft.com/office/powerpoint/2010/main" val="80595016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6F6898-EA68-46B6-AE6B-75C06470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20A4F7-4312-4EB0-B4CE-F2D8FE41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E57524-DBFB-4BCA-88CA-9E736001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3D218-EDCB-4A52-BC07-43BA4ADE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F7644-63AC-473A-A9A0-7CFCF0D8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98FFC-F666-4495-AF85-FBEF9F27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F47B4-A57C-4323-B50D-0FED9481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CUSTOM GPTS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DA56F-A782-4DF8-B980-CF8A67DCC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1394B-13FE-4414-8685-1D7384A5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Live build: T&amp;E Policy Assistant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A6503-6109-488E-86C4-A78BC6A03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4099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07E3D-B613-4407-9113-69125DDD2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4AFCF2-B5A3-4D6F-9280-5847C4236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AD9876-76D3-40FA-8FEE-7518300E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Helpful policy guide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06EC4D-3234-4E14-B859-7ADD9FE41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3067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Answer common expense questions concisely from supplied knowledge.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317B00-A92D-45DB-8B9C-3CCD92BE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099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9B2D55-395E-4822-A183-0F73C142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BB4DB-FBD5-478E-AB16-B03691AC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GUARDRAIL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70253C-4FF0-4CD4-873E-39971346A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Do not guess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2A121A-0516-43EC-B2C9-C45669E6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3067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If it is not covered, say “check with your manager”.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F69441-77EC-47B0-A1B4-E84F239D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4099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696542-85A9-4E43-8673-951969923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C04D3-ACE5-4AB0-A7AB-F0D430820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SUCCESS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566AF2-35F5-4D0E-82B7-1774F5F9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Accurate &amp; consistent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F2CBE3-C3FF-4F2D-AC8F-83D826F7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71875"/>
            <a:ext cx="3067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Use policy thresholds correctly and keep the tone helpful.</a:t>
            </a:r>
          </a:p>
        </p:txBody>
      </p:sp>
    </p:spTree>
    <p:extLst>
      <p:ext uri="{BB962C8B-B14F-4D97-AF65-F5344CB8AC3E}">
        <p14:creationId xmlns:p14="http://schemas.microsoft.com/office/powerpoint/2010/main" val="206322564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321A9D-BD0D-4CB0-851E-707876C2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DA82C1-5DB1-4913-83E8-9A2A6DAC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8440B-C03E-4E14-B4CE-ECE76BAF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0D44C-474B-4705-AFE9-3F67D911B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A71A51-1057-4AB6-9B25-217390BA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4664A-B74A-43C6-BC65-BF945174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243B0-9D1D-4340-B287-AF712EFD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CUSTOM GPTS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1EB75-7C20-44CF-9041-29A5A0E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25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333346-E51D-42C7-956E-AAFE0A92D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Every instruction has a job to 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EFCB64-A4F3-4D89-A11A-E842F42F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2490788" cy="2762250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BC40E6-C2A1-4657-99BE-E93AD1CEE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2C0E4-790D-49BB-B247-F9A22697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PROBLEM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08E2BD-DCB4-4884-B55C-D3010F23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Purpose &amp; users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9A69F0-5670-49DA-A398-6E7ADA31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21478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Prevents a generic assistant with no clear audience.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FD6574-F5A5-4498-ACAA-77587FCF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2338" y="2095500"/>
            <a:ext cx="2490788" cy="2762250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A3D7B7-C478-4608-9EC1-CB5B1986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2669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B871D2-2807-4573-A849-AA87E236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038" y="2324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23D02D-B689-42A6-8150-24D3826E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743200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Tone &amp; format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949B9-45F9-424E-95C4-D6959791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476625"/>
            <a:ext cx="21478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Creates a consistent, usable response.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89C11A-E79A-4F0C-BD70-2344A5D4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095500"/>
            <a:ext cx="2490788" cy="2762250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332338-9725-4F7B-975D-3674114D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2669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B74005-FB6B-44A8-8E95-7304AFBEC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24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SAFETY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59AD55-822C-4886-81F5-0D18B17F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743200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Scope &amp; guardrails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78F8CB-458D-45BA-A135-BF16320E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476625"/>
            <a:ext cx="21478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Stops guessing when the answer is missing.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D0F1A3-57FF-4168-81E6-23864842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7313" y="2095500"/>
            <a:ext cx="2490788" cy="2762250"/>
          </a:xfrm>
          <a:prstGeom xmlns:a="http://schemas.openxmlformats.org/drawingml/2006/main" prst="roundRect">
            <a:avLst>
              <a:gd name="adj" fmla="val 61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1E7D3D-EF66-463D-81DD-EE8E47062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2669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E57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D1F76E-0E8C-4A69-899D-AD7C6D07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013" y="2324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0EA3E2-0E67-469C-8DAD-8531138C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2743200"/>
            <a:ext cx="2147888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Knowledge &amp; citations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E2A43C-E857-40FA-957F-5480B053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8763" y="3476625"/>
            <a:ext cx="2147888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Makes it easier to trace and verify claims.</a:t>
            </a:r>
          </a:p>
        </p:txBody>
      </p:sp>
    </p:spTree>
    <p:extLst>
      <p:ext uri="{BB962C8B-B14F-4D97-AF65-F5344CB8AC3E}">
        <p14:creationId xmlns:p14="http://schemas.microsoft.com/office/powerpoint/2010/main" val="115522562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F33ED0-26C7-432D-B3F3-50E2D748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6EA23D-177E-4D63-BF45-A815AEBB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5D5124-BC82-498F-BDA0-722FBF62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B9ED1-4592-4698-91D9-2E91E6D4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CC2AEA-8285-46ED-8706-2A50AB88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78441-543A-4ED1-B89F-E026902A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5AD754-CE14-44CB-9235-53BA8AC6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CUSTOM GPTS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7FC2A-699B-4FBE-BE47-4C491679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37B21E-1EA7-4C9C-BC24-068ACAFD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T&amp;E Policy Assistant: starter instructions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586C83-A621-492A-A05F-9B24CE6C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7632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2D3DDA-FA17-4593-9189-2E0B81C3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05025"/>
            <a:ext cx="1333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4B9D6B-4193-4653-A930-0A5F08F9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62175"/>
            <a:ext cx="114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INSTRUCTIONS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69559B-708C-4D5A-8731-EAEF89C5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43175"/>
            <a:ext cx="104203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8202A"/>
                </a:solidFill>
              </a:defRPr>
            </a:pPr>
            <a:r>
              <a:rPr sz="1275" b="0" i="0">
                <a:solidFill>
                  <a:srgbClr val="18202A"/>
                </a:solidFill>
              </a:rPr>
              <a:t>You are the T&amp;E Policy Assistant. Answer questions only using the uploaded policy document. Be helpful and concise. State the relevant policy rule or threshold. If the answer is not in the document, say: “I don’t have that in the policy provided - please check with your manager.” Do not invent exceptions or approvals.</a:t>
            </a:r>
          </a:p>
        </p:txBody>
      </p:sp>
    </p:spTree>
    <p:extLst>
      <p:ext uri="{BB962C8B-B14F-4D97-AF65-F5344CB8AC3E}">
        <p14:creationId xmlns:p14="http://schemas.microsoft.com/office/powerpoint/2010/main" val="263914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AB8E9D-8A65-47A6-AB81-40DA21405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9CF717-444C-4667-8A39-9FDE3C4E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F9F302-0791-4F93-A178-1544659D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B93EB6-C6D3-44D6-82DC-FA49205F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95860-AB2D-4002-8CD3-10B1A1E65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FEBBA-6E10-4A46-AA84-E374E5502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1F874E-A028-4C4E-830D-6A380BE9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TRY IT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261F8A-E997-4E2E-85EF-ACA494010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DB3AC-D96E-44B1-A294-AA08271B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38250"/>
            <a:ext cx="3000375" cy="3000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FA4F45-AABF-422C-A4EB-07E74869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952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6B4D"/>
                </a:solidFill>
              </a:defRPr>
            </a:pPr>
            <a:r>
              <a:rPr sz="1350" b="1" i="0">
                <a:solidFill>
                  <a:srgbClr val="F26B4D"/>
                </a:solidFill>
              </a:rPr>
              <a:t>DEMO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70D97-E09E-47E7-8FDC-B4C444CC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09700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8202A"/>
                </a:solidFill>
              </a:defRPr>
            </a:pPr>
            <a:r>
              <a:rPr sz="2850" b="1" i="0">
                <a:solidFill>
                  <a:srgbClr val="18202A"/>
                </a:solidFill>
              </a:rPr>
              <a:t>Would the assistant answer, defer or ask a question?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81240-918F-4E12-97FF-8069F802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552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B6675"/>
                </a:solidFill>
              </a:defRPr>
            </a:pPr>
            <a:r>
              <a:rPr sz="1500" b="0" i="0">
                <a:solidFill>
                  <a:srgbClr val="5B6675"/>
                </a:solidFill>
              </a:rPr>
              <a:t>Try: “Can I expense a $300 hotel?” “Can I book business class?” “When is my report due?”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66D11-D2EF-43A3-9844-C9C113396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095500"/>
            <a:ext cx="2238375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A80B29-3C4F-4913-8645-AF6613D66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1790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8202A"/>
                </a:solidFill>
              </a:defRPr>
            </a:pPr>
            <a:r>
              <a:rPr sz="1350" b="1" i="0">
                <a:solidFill>
                  <a:srgbClr val="18202A"/>
                </a:solidFill>
              </a:rPr>
              <a:t>2 minutes</a:t>
            </a:r>
          </a:p>
          <a:p xmlns:a="http://schemas.openxmlformats.org/drawingml/2006/main">
            <a:pPr algn="ctr">
              <a:defRPr sz="1350" b="1" i="0">
                <a:solidFill>
                  <a:srgbClr val="18202A"/>
                </a:solidFill>
              </a:defRPr>
            </a:pPr>
            <a:r>
              <a:rPr sz="1350" b="1" i="0">
                <a:solidFill>
                  <a:srgbClr val="18202A"/>
                </a:solidFill>
              </a:rPr>
              <a:t>Pair up. Pick a view.</a:t>
            </a:r>
          </a:p>
        </p:txBody>
      </p:sp>
    </p:spTree>
    <p:extLst>
      <p:ext uri="{BB962C8B-B14F-4D97-AF65-F5344CB8AC3E}">
        <p14:creationId xmlns:p14="http://schemas.microsoft.com/office/powerpoint/2010/main" val="2365581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79E690B-0EAA-47C5-A388-E527A4E82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CF5844-AA5D-4618-BC79-E5DB877F1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7CD315-71DB-4A9F-9E22-3395D59F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D3950-E857-4CB2-8F8E-8D9DEA6C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431FC9-3D1F-46B6-A32A-627ABA40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DEDA3-6C79-43A1-B20C-087D344B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6365C0-1B77-47F5-82B2-CDBD834F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RESPONSIBLE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B0451-9305-4570-AE81-5C9F9A5D9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1CAC4-35B3-4991-BB06-4F52B493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Responsible use is a practical habit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AF94A3-599B-4B9C-9204-2FB4BE05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4099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054837-DE29-40A2-A32C-E8D36BE3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E14639-F84B-44DD-BD98-C4C527DB4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8924AB-FAFD-43E5-81E0-009941D9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3845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Check the claim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E7113-B6E3-4629-B725-B5C07399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3067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Use trusted sources. Treat confidence as a cue, not proof.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2262E1-620F-4D50-B31C-57BDF271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90750"/>
            <a:ext cx="34099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75143-9410-4639-ACAC-67B0E41A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2E837E-97CD-4EE2-91B5-6500A075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PROTECT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0134E5-776B-4944-8170-023400071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3845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Use safe inputs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13108A-676D-4C14-8986-9E4E04B9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71875"/>
            <a:ext cx="3067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Do not share sensitive, personal or restricted information.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7B774A-31C1-49A3-AA91-A7F13BE2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190750"/>
            <a:ext cx="3409950" cy="2571750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44ADF-649D-4957-B2B5-3FCCACD9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36220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C8C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D3E8CE-2742-4F4D-9AB1-7570FC174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193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OWN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184774-C946-43F7-9EE1-0A9B5BA4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3845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Keep judgement human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80637-BB88-4F69-B31E-20A0878F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71875"/>
            <a:ext cx="3067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Watch for bias, context gaps and consequences.</a:t>
            </a:r>
          </a:p>
        </p:txBody>
      </p:sp>
    </p:spTree>
    <p:extLst>
      <p:ext uri="{BB962C8B-B14F-4D97-AF65-F5344CB8AC3E}">
        <p14:creationId xmlns:p14="http://schemas.microsoft.com/office/powerpoint/2010/main" val="14993903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706E05-7661-4375-B011-5BE6812C1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C2C1B2-F0BA-430E-99D1-E7A280A8C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BCD8FF-2F3B-4265-B12A-D917A43D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5715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914A6-3BB8-4373-97B7-552B46A1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4C8CF7-C9DB-44DF-8789-EF9071E3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EF715A-D3BA-4B13-B0C7-7D44EE91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79057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F0433-50C8-42A2-866C-F3487B866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TAKEAWAY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FE2A91-4A12-43AE-BEF6-97283577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216BC-AFFE-481C-9768-14442620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742950"/>
            <a:ext cx="962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8202A"/>
                </a:solidFill>
              </a:defRPr>
            </a:pPr>
            <a:r>
              <a:rPr sz="2550" b="1" i="0">
                <a:solidFill>
                  <a:srgbClr val="18202A"/>
                </a:solidFill>
              </a:rPr>
              <a:t>Your GenAI cheat sheet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C3259-CF85-4070-8A01-4C6811FA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34099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93C32-F1FC-48BB-B93A-80ADB3FF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669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62892-E309-4DCE-8EA0-ED347738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4879E-6DF0-4EB8-942C-E697BE2C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RTCF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8BABB-426D-4FC3-B0D8-1BB247D5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76625"/>
            <a:ext cx="3067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Role</a:t>
            </a:r>
          </a:p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Task</a:t>
            </a:r>
          </a:p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Context</a:t>
            </a:r>
          </a:p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Format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DFB24A-DF01-41D8-AB89-6BB2F134D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95500"/>
            <a:ext cx="34099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05F81A-5E74-4AF9-AF0B-0B86FE2E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2669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E55D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4301B6-1733-45C1-9553-1A539B14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324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CUSTOM GPT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33394-F101-4F5C-B5EA-B63D2606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4320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Design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5DA70F-6D60-4EF5-99BB-B5BC8B2B1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76625"/>
            <a:ext cx="3067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Need • users • scope</a:t>
            </a:r>
          </a:p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Knowledge • guardrails</a:t>
            </a:r>
          </a:p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Test •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17934F-6590-4541-8035-8AAE07FF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95500"/>
            <a:ext cx="3409950" cy="2857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D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A6E6B8-8AD9-4D73-A483-27B21D08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66950"/>
            <a:ext cx="1524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6B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E4476D-7C73-41A6-ABEC-A95AED45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3241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RESPONSIBLE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FE33ED-A28C-4039-94A6-4D602DB5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43200"/>
            <a:ext cx="3067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8202A"/>
                </a:solidFill>
              </a:defRPr>
            </a:pPr>
            <a:r>
              <a:rPr sz="1725" b="1" i="0">
                <a:solidFill>
                  <a:srgbClr val="18202A"/>
                </a:solidFill>
              </a:rPr>
              <a:t>Check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F99DF2-F8D8-47D1-B331-B17C8A69A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3067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Verify facts</a:t>
            </a:r>
          </a:p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Protect information</a:t>
            </a:r>
          </a:p>
          <a:p xmlns:a="http://schemas.openxmlformats.org/drawingml/2006/main">
            <a:pPr algn="l">
              <a:defRPr sz="1275" b="0" i="0">
                <a:solidFill>
                  <a:srgbClr val="5B6675"/>
                </a:solidFill>
              </a:defRPr>
            </a:pPr>
            <a:r>
              <a:rPr sz="1275" b="0" i="0">
                <a:solidFill>
                  <a:srgbClr val="5B6675"/>
                </a:solidFill>
              </a:rPr>
              <a:t>Keep human oversight</a:t>
            </a:r>
          </a:p>
        </p:txBody>
      </p:sp>
    </p:spTree>
    <p:extLst>
      <p:ext uri="{BB962C8B-B14F-4D97-AF65-F5344CB8AC3E}">
        <p14:creationId xmlns:p14="http://schemas.microsoft.com/office/powerpoint/2010/main" val="72565219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CB7949-1D53-4FEF-901C-EE035B5FE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CLOSE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40B530-47E8-4F80-A7A5-F1DAAACBE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41910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5B6675"/>
                </a:solidFill>
              </a:defRPr>
            </a:pPr>
            <a:r>
              <a:rPr sz="900" b="1" i="0">
                <a:solidFill>
                  <a:srgbClr val="5B6675"/>
                </a:solidFill>
              </a:rPr>
              <a:t>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C11BF8-CCE9-46C8-B4A4-946A4585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4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738FC-4FB1-4147-AD82-3EDFA8B7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DE1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54E9D4-0775-4DF6-8321-E7FB5CBF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62125"/>
            <a:ext cx="7810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8202A"/>
                </a:solidFill>
              </a:defRPr>
            </a:pPr>
            <a:r>
              <a:rPr sz="3750" b="1" i="0">
                <a:solidFill>
                  <a:srgbClr val="18202A"/>
                </a:solidFill>
              </a:rPr>
              <a:t>Start small.</a:t>
            </a:r>
          </a:p>
          <a:p xmlns:a="http://schemas.openxmlformats.org/drawingml/2006/main">
            <a:pPr algn="l">
              <a:defRPr sz="3750" b="1" i="0">
                <a:solidFill>
                  <a:srgbClr val="18202A"/>
                </a:solidFill>
              </a:defRPr>
            </a:pPr>
            <a:r>
              <a:rPr sz="3750" b="1" i="0">
                <a:solidFill>
                  <a:srgbClr val="18202A"/>
                </a:solidFill>
              </a:rPr>
              <a:t>Make the task clear.</a:t>
            </a:r>
          </a:p>
          <a:p xmlns:a="http://schemas.openxmlformats.org/drawingml/2006/main">
            <a:pPr algn="l">
              <a:defRPr sz="3750" b="1" i="0">
                <a:solidFill>
                  <a:srgbClr val="18202A"/>
                </a:solidFill>
              </a:defRPr>
            </a:pPr>
            <a:r>
              <a:rPr sz="3750" b="1" i="0">
                <a:solidFill>
                  <a:srgbClr val="18202A"/>
                </a:solidFill>
              </a:rPr>
              <a:t>Check the result.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1EC98-426C-48A6-A28E-9A5A3A5C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38625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B6675"/>
                </a:solidFill>
              </a:defRPr>
            </a:pPr>
            <a:r>
              <a:rPr sz="1650" b="0" i="0">
                <a:solidFill>
                  <a:srgbClr val="5B6675"/>
                </a:solidFill>
              </a:rPr>
              <a:t>One useful prompt this week is enough to start building the habit.</a:t>
            </a:r>
          </a:p>
        </p:txBody>
      </p:sp>
    </p:spTree>
    <p:extLst>
      <p:ext uri="{BB962C8B-B14F-4D97-AF65-F5344CB8AC3E}">
        <p14:creationId xmlns:p14="http://schemas.microsoft.com/office/powerpoint/2010/main" val="1786844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2026-08-06T10:30:14.6200000Z</dcterms:created>
  <dcterms:modified xsi:type="dcterms:W3CDTF">2026-08-06T10:30:14.6200000Z</dcterms:modified>
</coreProperties>
</file>